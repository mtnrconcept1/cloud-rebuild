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38320694ca4f73" /><Relationship Type="http://schemas.openxmlformats.org/officeDocument/2006/relationships/extended-properties" Target="/docProps/app.xml" Id="R2caad28bc6a44050" /><Relationship Type="http://schemas.openxmlformats.org/officeDocument/2006/relationships/officeDocument" Target="/ppt/presentation.xml" Id="R76303e73af0c47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2d2670cefc410f"/>
  </p:sldMasterIdLst>
  <p:notesMasterIdLst>
    <p:notesMasterId xmlns:r="http://schemas.openxmlformats.org/officeDocument/2006/relationships" r:id="Ra574e45c1d4946f0"/>
  </p:notesMasterIdLst>
  <p:sldIdLst>
    <p:sldId xmlns:r="http://schemas.openxmlformats.org/officeDocument/2006/relationships" id="256" r:id="R955e197a7d5a4acb"/>
    <p:sldId xmlns:r="http://schemas.openxmlformats.org/officeDocument/2006/relationships" id="257" r:id="R2f22343b4ff04f97"/>
    <p:sldId xmlns:r="http://schemas.openxmlformats.org/officeDocument/2006/relationships" id="258" r:id="R76627afe5757482e"/>
    <p:sldId xmlns:r="http://schemas.openxmlformats.org/officeDocument/2006/relationships" id="259" r:id="R68f460c9d2184ebb"/>
    <p:sldId xmlns:r="http://schemas.openxmlformats.org/officeDocument/2006/relationships" id="260" r:id="Rfba33ded04244ef2"/>
    <p:sldId xmlns:r="http://schemas.openxmlformats.org/officeDocument/2006/relationships" id="261" r:id="Ra643976afaae4419"/>
    <p:sldId xmlns:r="http://schemas.openxmlformats.org/officeDocument/2006/relationships" id="262" r:id="Rbd118b99949b43a7"/>
    <p:sldId xmlns:r="http://schemas.openxmlformats.org/officeDocument/2006/relationships" id="263" r:id="Rf2ccaf4c6d6f4c0e"/>
    <p:sldId xmlns:r="http://schemas.openxmlformats.org/officeDocument/2006/relationships" id="264" r:id="Rdd4adbf92cce4a8b"/>
    <p:sldId xmlns:r="http://schemas.openxmlformats.org/officeDocument/2006/relationships" id="265" r:id="R3c27fcb5046142fd"/>
    <p:sldId xmlns:r="http://schemas.openxmlformats.org/officeDocument/2006/relationships" id="266" r:id="Ra98bd9205c8c4498"/>
    <p:sldId xmlns:r="http://schemas.openxmlformats.org/officeDocument/2006/relationships" id="267" r:id="R83d7d1b31dfd4ce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c1105157b64501" /><Relationship Type="http://schemas.openxmlformats.org/officeDocument/2006/relationships/slideMaster" Target="/ppt/slideMasters/slideMaster1.xml" Id="R8e2d2670cefc410f" /><Relationship Type="http://schemas.openxmlformats.org/officeDocument/2006/relationships/notesMaster" Target="/ppt/notesMasters/notesMaster1.xml" Id="Ra574e45c1d4946f0" /><Relationship Type="http://schemas.openxmlformats.org/officeDocument/2006/relationships/presProps" Target="/ppt/presProps.xml" Id="R83bb4873532c4436" /><Relationship Type="http://schemas.openxmlformats.org/officeDocument/2006/relationships/viewProps" Target="/ppt/viewProps.xml" Id="Rbfa60fb622c2461f" /><Relationship Type="http://schemas.openxmlformats.org/officeDocument/2006/relationships/tableStyles" Target="/ppt/tableStyles.xml" Id="Rff367114181b4a67" /><Relationship Type="http://schemas.openxmlformats.org/officeDocument/2006/relationships/slide" Target="/ppt/slides/slide1.xml" Id="R955e197a7d5a4acb" /><Relationship Type="http://schemas.openxmlformats.org/officeDocument/2006/relationships/slide" Target="/ppt/slides/slide2.xml" Id="R2f22343b4ff04f97" /><Relationship Type="http://schemas.openxmlformats.org/officeDocument/2006/relationships/slide" Target="/ppt/slides/slide3.xml" Id="R76627afe5757482e" /><Relationship Type="http://schemas.openxmlformats.org/officeDocument/2006/relationships/slide" Target="/ppt/slides/slide4.xml" Id="R68f460c9d2184ebb" /><Relationship Type="http://schemas.openxmlformats.org/officeDocument/2006/relationships/slide" Target="/ppt/slides/slide5.xml" Id="Rfba33ded04244ef2" /><Relationship Type="http://schemas.openxmlformats.org/officeDocument/2006/relationships/slide" Target="/ppt/slides/slide6.xml" Id="Ra643976afaae4419" /><Relationship Type="http://schemas.openxmlformats.org/officeDocument/2006/relationships/slide" Target="/ppt/slides/slide7.xml" Id="Rbd118b99949b43a7" /><Relationship Type="http://schemas.openxmlformats.org/officeDocument/2006/relationships/slide" Target="/ppt/slides/slide8.xml" Id="Rf2ccaf4c6d6f4c0e" /><Relationship Type="http://schemas.openxmlformats.org/officeDocument/2006/relationships/slide" Target="/ppt/slides/slide9.xml" Id="Rdd4adbf92cce4a8b" /><Relationship Type="http://schemas.openxmlformats.org/officeDocument/2006/relationships/slide" Target="/ppt/slides/slide10.xml" Id="R3c27fcb5046142fd" /><Relationship Type="http://schemas.openxmlformats.org/officeDocument/2006/relationships/slide" Target="/ppt/slides/slide11.xml" Id="Ra98bd9205c8c4498" /><Relationship Type="http://schemas.openxmlformats.org/officeDocument/2006/relationships/slide" Target="/ppt/slides/slide12.xml" Id="R83d7d1b31dfd4c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3c877c92424d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681cf0f4aa4267" /><Relationship Type="http://schemas.openxmlformats.org/officeDocument/2006/relationships/notesMaster" Target="/ppt/notesMasters/notesMaster1.xml" Id="R6995a08c47bc43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d409420ef542cc" /><Relationship Type="http://schemas.openxmlformats.org/officeDocument/2006/relationships/notesMaster" Target="/ppt/notesMasters/notesMaster1.xml" Id="R237237229bf04c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7d9ad0737341e9" /><Relationship Type="http://schemas.openxmlformats.org/officeDocument/2006/relationships/notesMaster" Target="/ppt/notesMasters/notesMaster1.xml" Id="Rf2a0638978b245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c59cb89e0144ba" /><Relationship Type="http://schemas.openxmlformats.org/officeDocument/2006/relationships/notesMaster" Target="/ppt/notesMasters/notesMaster1.xml" Id="Rb92ebd7123c749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5313b9c3cd46cb" /><Relationship Type="http://schemas.openxmlformats.org/officeDocument/2006/relationships/notesMaster" Target="/ppt/notesMasters/notesMaster1.xml" Id="Rda1ce4fc49b44e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aae7b62de44f04" /><Relationship Type="http://schemas.openxmlformats.org/officeDocument/2006/relationships/notesMaster" Target="/ppt/notesMasters/notesMaster1.xml" Id="R638f4fceeac14b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6a7896e705484d" /><Relationship Type="http://schemas.openxmlformats.org/officeDocument/2006/relationships/notesMaster" Target="/ppt/notesMasters/notesMaster1.xml" Id="R7e72e7d5efa648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49ffee2dc640ff" /><Relationship Type="http://schemas.openxmlformats.org/officeDocument/2006/relationships/notesMaster" Target="/ppt/notesMasters/notesMaster1.xml" Id="Rdc7d445031924d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7eb223d6f214e6e" /><Relationship Type="http://schemas.openxmlformats.org/officeDocument/2006/relationships/notesMaster" Target="/ppt/notesMasters/notesMaster1.xml" Id="Re4e4f8cf8f5448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5e93fea97e54d27" /><Relationship Type="http://schemas.openxmlformats.org/officeDocument/2006/relationships/notesMaster" Target="/ppt/notesMasters/notesMaster1.xml" Id="R3ce174c95e0d4e6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b9a68730ec4444" /><Relationship Type="http://schemas.openxmlformats.org/officeDocument/2006/relationships/notesMaster" Target="/ppt/notesMasters/notesMaster1.xml" Id="R588abaa98412489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055bccabdd8490d" /><Relationship Type="http://schemas.openxmlformats.org/officeDocument/2006/relationships/notesMaster" Target="/ppt/notesMasters/notesMaster1.xml" Id="R5c43b480bfd24b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e2e63c035d43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98177828ab485a" /><Relationship Type="http://schemas.openxmlformats.org/officeDocument/2006/relationships/slideLayout" Target="/ppt/slideLayouts/slideLayout1.xml" Id="R997d5db924d442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7d5db924d442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c02caa9aa49c9" /><Relationship Type="http://schemas.openxmlformats.org/officeDocument/2006/relationships/image" Target="/ppt/media/image.bin" Id="Ra9279dcb54194215" /><Relationship Type="http://schemas.openxmlformats.org/officeDocument/2006/relationships/image" Target="/ppt/media/image.png" Id="R9e7c2705ce3f49cb" /><Relationship Type="http://schemas.openxmlformats.org/officeDocument/2006/relationships/notesSlide" Target="/ppt/notesSlides/notesSlide1.xml" Id="Rb69930f6a44d45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4ac1ef3634006" /><Relationship Type="http://schemas.openxmlformats.org/officeDocument/2006/relationships/notesSlide" Target="/ppt/notesSlides/notesSlide2.xml" Id="R4ef18eb65ee540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26702aadbd4b48" /><Relationship Type="http://schemas.openxmlformats.org/officeDocument/2006/relationships/notesSlide" Target="/ppt/notesSlides/notesSlide3.xml" Id="Ra1d12dfe866442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24885296d4022" /><Relationship Type="http://schemas.openxmlformats.org/officeDocument/2006/relationships/notesSlide" Target="/ppt/notesSlides/notesSlide4.xml" Id="R99a22dab4f984e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060028ad74897" /><Relationship Type="http://schemas.openxmlformats.org/officeDocument/2006/relationships/notesSlide" Target="/ppt/notesSlides/notesSlide5.xml" Id="R5668f8706fe544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da8fe8b4b44d1" /><Relationship Type="http://schemas.openxmlformats.org/officeDocument/2006/relationships/notesSlide" Target="/ppt/notesSlides/notesSlide6.xml" Id="R7ccd3942791142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10a5c3a5547b0" /><Relationship Type="http://schemas.openxmlformats.org/officeDocument/2006/relationships/notesSlide" Target="/ppt/notesSlides/notesSlide7.xml" Id="R4cdc21e33c02400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124b6307a4bed" /><Relationship Type="http://schemas.openxmlformats.org/officeDocument/2006/relationships/notesSlide" Target="/ppt/notesSlides/notesSlide8.xml" Id="R07a09349d41945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c6320e6704ac2" /><Relationship Type="http://schemas.openxmlformats.org/officeDocument/2006/relationships/notesSlide" Target="/ppt/notesSlides/notesSlide9.xml" Id="R01487d3e227741e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73ca587fe24bdb" /><Relationship Type="http://schemas.openxmlformats.org/officeDocument/2006/relationships/notesSlide" Target="/ppt/notesSlides/notesSlide10.xml" Id="Rf7e744ad1dad421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47e14e8ab247be" /><Relationship Type="http://schemas.openxmlformats.org/officeDocument/2006/relationships/notesSlide" Target="/ppt/notesSlides/notesSlide11.xml" Id="R09aabef446e5483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e9189d6f24395" /><Relationship Type="http://schemas.openxmlformats.org/officeDocument/2006/relationships/image" Target="/ppt/media/image2.png" Id="R9d6a874c93704e04" /><Relationship Type="http://schemas.openxmlformats.org/officeDocument/2006/relationships/notesSlide" Target="/ppt/notesSlides/notesSlide12.xml" Id="Rad94d9ad79a44d5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F69772-28F6-431C-B711-1068FBED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279dcb54194215"/>
          <a:srcRect xmlns:a="http://schemas.openxmlformats.org/drawingml/2006/main" l="32803" t="0" r="328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0" y="0"/>
            <a:ext cx="4191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A72AA0-9488-4B2A-B062-691C7CE8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7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AF2CCD-E647-43DF-8231-887552AC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6CA403-3CE6-409F-B7B1-35CF3B61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7c2705ce3f49cb"/>
          <a:stretch xmlns:a="http://schemas.openxmlformats.org/drawingml/2006/main"/>
        </p:blipFill>
        <p:spPr>
          <a:xfrm xmlns:a="http://schemas.openxmlformats.org/drawingml/2006/main">
            <a:off x="571500" y="400050"/>
            <a:ext cx="990600" cy="990600"/>
          </a:xfrm>
          <a:prstGeom xmlns:a="http://schemas.openxmlformats.org/drawingml/2006/main" prst="rect">
            <a:avLst/>
          </a:prstGeom>
        </p:spPr>
      </p:pic>
      <p:sp>
        <p:nvSpPr>
          <p:cNvPr id="7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10870813-7300-4E53-BCBC-41F4C8B1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77152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CF049ED4-DABF-489A-B8A3-C79164C7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7048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INVESTOR PITCH - SUISSE ROMANDE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FCA5C8-F9BC-45D0-9E46-DAC73D88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6572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TOK reconstruit le commerce food autour de l'économie restaurant.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8EDA85-44B9-48DA-8448-A783D3F0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67100"/>
            <a:ext cx="628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DE7F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DE7F5"/>
                </a:solidFill>
                <a:latin typeface="Aptos"/>
                <a:ea typeface="Aptos"/>
                <a:cs typeface="Aptos"/>
              </a:rPr>
              <a:t>Marketplace client, réservations, offres locales, dashboard restaurateur, coursier, admin et gouvernance financière dans une seule plateforme.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0A9AD9-5E12-4924-BEC9-CAFA531A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48200"/>
            <a:ext cx="1752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B"/>
          </a:solidFill>
          <a:ln xmlns:a="http://schemas.openxmlformats.org/drawingml/2006/main" w="9525">
            <a:solidFill>
              <a:srgbClr val="36537C"/>
            </a:solidFill>
            <a:prstDash val="solid"/>
          </a:ln>
        </p:spPr>
        <p:txBody>
          <a:bodyPr xmlns:a="http://schemas.openxmlformats.org/drawingml/2006/main" lIns="152400" tIns="114300" rIns="114300" bIns="952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Wedge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Genève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030C9E-D4AD-47CE-835D-B8B17A31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4820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1542E1-4A7C-4B1A-A673-A5D58644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48200"/>
            <a:ext cx="1752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B"/>
          </a:solidFill>
          <a:ln xmlns:a="http://schemas.openxmlformats.org/drawingml/2006/main" w="9525">
            <a:solidFill>
              <a:srgbClr val="36537C"/>
            </a:solidFill>
            <a:prstDash val="solid"/>
          </a:ln>
        </p:spPr>
        <p:txBody>
          <a:bodyPr xmlns:a="http://schemas.openxmlformats.org/drawingml/2006/main" lIns="152400" tIns="114300" rIns="114300" bIns="952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Modèle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 CHF/table + packs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78AF0E-6B77-46D3-8FE2-EC8EA701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4820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A543D9-74FD-44CF-8FEE-822CBC6E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48200"/>
            <a:ext cx="1752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B"/>
          </a:solidFill>
          <a:ln xmlns:a="http://schemas.openxmlformats.org/drawingml/2006/main" w="9525">
            <a:solidFill>
              <a:srgbClr val="36537C"/>
            </a:solidFill>
            <a:prstDash val="solid"/>
          </a:ln>
        </p:spPr>
        <p:txBody>
          <a:bodyPr xmlns:a="http://schemas.openxmlformats.org/drawingml/2006/main" lIns="152400" tIns="114300" rIns="114300" bIns="952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Angle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restaurant-first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CAFA33-CA55-44D4-B0C9-CDF5F8F8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4820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B1B0FD-6036-41DB-84D0-ECA20753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816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A1A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6A1A"/>
                </a:solidFill>
                <a:latin typeface="Georgia"/>
                <a:ea typeface="Georgia"/>
                <a:cs typeface="Georgia"/>
              </a:rPr>
              <a:t>Restaurant, app et opérations dans le même récit de marge.</a:t>
            </a:r>
          </a:p>
        </p:txBody>
      </p:sp>
      <p:sp>
        <p:nvSpPr>
          <p:cNvPr id="18" name="footer-source-01">
            <a:extLst xmlns:a="http://schemas.openxmlformats.org/drawingml/2006/main">
              <a:ext uri="{FF2B5EF4-FFF2-40B4-BE49-F238E27FC236}">
                <a16:creationId xmlns:a16="http://schemas.microsoft.com/office/drawing/2014/main" id="{A3DCBA86-8886-4848-91C6-0024C705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Sources: assets et repo TOK local; chiffres terrain à compléter.</a:t>
            </a:r>
          </a:p>
        </p:txBody>
      </p:sp>
      <p:sp>
        <p:nvSpPr>
          <p:cNvPr id="19" name="page-marker-01">
            <a:extLst xmlns:a="http://schemas.openxmlformats.org/drawingml/2006/main">
              <a:ext uri="{FF2B5EF4-FFF2-40B4-BE49-F238E27FC236}">
                <a16:creationId xmlns:a16="http://schemas.microsoft.com/office/drawing/2014/main" id="{563D3620-68B2-4091-B7B6-CE834A27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770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2147497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ABE00B-FE76-42F6-81B5-E4D84EF3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7F0A7-7E08-413F-A0FF-86144739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54360-A5C4-4BF2-B0EB-14F5488F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6E7D2-FF5E-4E71-962E-4514FA83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4E77FA-994F-4416-B609-3F9AA8B1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5250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B6DD64C2-F4BE-46E1-8FA2-28B74EBF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C6AB47B5-2A2B-4968-93A1-A8D28AB1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PROBLÈME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069AC-9BC4-4184-811B-F4C4C389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7524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Les restaurants gagnent des clients, mais perdent trop souvent le contrôle.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3307EE-899F-47A3-8E42-50C4CE66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561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F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DE7F5"/>
                </a:solidFill>
                <a:latin typeface="Aptos"/>
                <a:ea typeface="Aptos"/>
                <a:cs typeface="Aptos"/>
              </a:rPr>
              <a:t>Le marché n'a pas seulement besoin d'un canal de commande. Il a besoin d'un système qui protège la marge, la relation client et l'exécution opérationnelle.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064A37-ACF9-4C14-91C2-97803DA6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33147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B"/>
          </a:solidFill>
          <a:ln xmlns:a="http://schemas.openxmlformats.org/drawingml/2006/main" w="9525">
            <a:solidFill>
              <a:srgbClr val="2A3B5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BF079C-7673-467E-B530-58EC3956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E218FF-F1C9-4D07-B029-A2B82658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293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MARGE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989DF0-380B-418A-9585-D5A2A98A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2933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L'équation économique devient opaque.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5BAD0B-6842-4A26-9A94-02CB958E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2933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9D6E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9D6E8"/>
                </a:solidFill>
                <a:latin typeface="Aptos"/>
                <a:ea typeface="Aptos"/>
                <a:cs typeface="Aptos"/>
              </a:rPr>
              <a:t>Commissions, remises et coûts marketing se mélangent sans lecture nette du résultat.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5D6798-0297-4898-B2D3-2D0C8608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33147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B"/>
          </a:solidFill>
          <a:ln xmlns:a="http://schemas.openxmlformats.org/drawingml/2006/main" w="9525">
            <a:solidFill>
              <a:srgbClr val="2A3B5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970CB9-E07A-4964-B91E-58DFC00C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C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D31427-E1D1-438F-8243-6F8DD647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00400"/>
            <a:ext cx="293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4C7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4C79"/>
                </a:solidFill>
                <a:latin typeface="Aptos"/>
                <a:ea typeface="Aptos"/>
                <a:cs typeface="Aptos"/>
              </a:rPr>
              <a:t>RELATION CLIENT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97A07A-8127-4F33-BCD9-4CCFC1FF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48050"/>
            <a:ext cx="2933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La fidélité ne reste pas assez directe.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822CB7-D164-4A15-8354-CC8897E5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38600"/>
            <a:ext cx="2933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9D6E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9D6E8"/>
                </a:solidFill>
                <a:latin typeface="Aptos"/>
                <a:ea typeface="Aptos"/>
                <a:cs typeface="Aptos"/>
              </a:rPr>
              <a:t>La donnée, l'avis, la récurrence et l'expérience restent souvent captés par l'intermédiaire.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0B1E82-CB34-4C0A-8198-8CAA7E5E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28950"/>
            <a:ext cx="33147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B"/>
          </a:solidFill>
          <a:ln xmlns:a="http://schemas.openxmlformats.org/drawingml/2006/main" w="9525">
            <a:solidFill>
              <a:srgbClr val="2A3B5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893664-DFE0-443A-B715-88CC215A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2895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3D2DB0-EF97-47BF-965D-15CCEC6F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00400"/>
            <a:ext cx="293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2A3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2A3FF"/>
                </a:solidFill>
                <a:latin typeface="Aptos"/>
                <a:ea typeface="Aptos"/>
                <a:cs typeface="Aptos"/>
              </a:rPr>
              <a:t>OPÉRATIONS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B5BE2B-1D70-47A3-9FBC-D73AA04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48050"/>
            <a:ext cx="2933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Le service subit la fragmentation.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35F113-7B03-4915-85C2-776CE421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38600"/>
            <a:ext cx="2933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9D6E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9D6E8"/>
                </a:solidFill>
                <a:latin typeface="Aptos"/>
                <a:ea typeface="Aptos"/>
                <a:cs typeface="Aptos"/>
              </a:rPr>
              <a:t>Réservations, commandes, offres, factures, photos et support vivent dans des outils séparés.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AE118B-4DF1-45A3-B5BF-43075B1A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66900"/>
            <a:ext cx="409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B"/>
          </a:solidFill>
          <a:ln xmlns:a="http://schemas.openxmlformats.org/drawingml/2006/main" w="9525">
            <a:solidFill>
              <a:srgbClr val="294365"/>
            </a:solidFill>
            <a:prstDash val="solid"/>
          </a:ln>
        </p:spPr>
        <p:txBody>
          <a:bodyPr xmlns:a="http://schemas.openxmlformats.org/drawingml/2006/main" lIns="152400" tIns="95250" rIns="152400" bIns="762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A1A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FF6A1A"/>
                </a:solidFill>
                <a:latin typeface="Georgia"/>
                <a:ea typeface="Georgia"/>
                <a:cs typeface="Georgia"/>
              </a:rPr>
              <a:t>TOK part du besoin restaurateur : remplir les bons créneaux et garder les coûts lisibles.</a:t>
            </a:r>
          </a:p>
        </p:txBody>
      </p:sp>
      <p:sp>
        <p:nvSpPr>
          <p:cNvPr id="26" name="footer-source-02">
            <a:extLst xmlns:a="http://schemas.openxmlformats.org/drawingml/2006/main">
              <a:ext uri="{FF2B5EF4-FFF2-40B4-BE49-F238E27FC236}">
                <a16:creationId xmlns:a16="http://schemas.microsoft.com/office/drawing/2014/main" id="{3DC8B94C-FF56-48D1-B82D-10A98182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00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Source: positionnement B2B local TOK; aucune métrique concurrente non sourcée.</a:t>
            </a:r>
          </a:p>
        </p:txBody>
      </p:sp>
      <p:sp>
        <p:nvSpPr>
          <p:cNvPr id="27" name="page-marker-02">
            <a:extLst xmlns:a="http://schemas.openxmlformats.org/drawingml/2006/main">
              <a:ext uri="{FF2B5EF4-FFF2-40B4-BE49-F238E27FC236}">
                <a16:creationId xmlns:a16="http://schemas.microsoft.com/office/drawing/2014/main" id="{6FA77B74-A1CE-4321-A594-F37D2897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904356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FE3626-DFD5-4120-A834-D93B7A16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A7B17-E66E-471B-9E2B-A5B41668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1269F-D85D-4CF8-8CD4-27A820A5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D9B11B-AC5F-4A94-8976-2FF9234F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EB072C-8F06-42D6-9110-E8B0A397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5250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5BB7F0D6-0D06-4194-B61D-B50FBA84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635E776C-9251-44AB-9B91-3D45AECC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7C2985-2B8E-455C-9816-31916336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8001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TOK est une plateforme d'activation restaurant, pas une vitrine isolée.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83C684-BDAC-4639-AB6C-5A642DF8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666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F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DE7F5"/>
                </a:solidFill>
                <a:latin typeface="Aptos"/>
                <a:ea typeface="Aptos"/>
                <a:cs typeface="Aptos"/>
              </a:rPr>
              <a:t>Les quatre surfaces produit travaillent ensemble : acquisition client, exécution restaurant, livraison et contrôle admin.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DE2F54-9F8F-4ACF-A4DB-871E51F5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4953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2F"/>
          </a:solidFill>
          <a:ln xmlns:a="http://schemas.openxmlformats.org/drawingml/2006/main" w="9525">
            <a:solidFill>
              <a:srgbClr val="29436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DD74C0-0944-44E0-9E85-E06BB48F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76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0B3D7C-02A0-45B4-8B60-03FD0E2C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Client app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9FF23B-3313-4F33-BE44-836CEA73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4343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9D6E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9D6E8"/>
                </a:solidFill>
                <a:latin typeface="Aptos"/>
                <a:ea typeface="Aptos"/>
                <a:cs typeface="Aptos"/>
              </a:rPr>
              <a:t>Recherche, restaurant, panier, commande, réservation, Tok One, Miamz, actualités.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D35FC5-B88C-4F84-BD81-64D62FB2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4953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2F"/>
          </a:solidFill>
          <a:ln xmlns:a="http://schemas.openxmlformats.org/drawingml/2006/main" w="9525">
            <a:solidFill>
              <a:srgbClr val="29436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B08C62-11D7-4736-BB47-55DA726C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76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91697B-D41A-4DAA-8306-72F38B0E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0060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Restaurant 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8EFDA5-8541-4570-8EEE-AE43B170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62550"/>
            <a:ext cx="4343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9D6E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9D6E8"/>
                </a:solidFill>
                <a:latin typeface="Aptos"/>
                <a:ea typeface="Aptos"/>
                <a:cs typeface="Aptos"/>
              </a:rPr>
              <a:t>Menu, photos, réservations, commandes, offres, campagnes, factures, service, plan de salle.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77AD63-C222-43D7-B945-0C5F7305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90850"/>
            <a:ext cx="4953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2F"/>
          </a:solidFill>
          <a:ln xmlns:a="http://schemas.openxmlformats.org/drawingml/2006/main" w="9525">
            <a:solidFill>
              <a:srgbClr val="29436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D42FDF-B649-4712-B583-149C1244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90850"/>
            <a:ext cx="76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D05B84-DC2F-4B56-9DC4-468C1BA8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6230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Courier app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586707-60F0-4E11-8831-876AEAD0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24250"/>
            <a:ext cx="4343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9D6E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9D6E8"/>
                </a:solidFill>
                <a:latin typeface="Aptos"/>
                <a:ea typeface="Aptos"/>
                <a:cs typeface="Aptos"/>
              </a:rPr>
              <a:t>Jobs, profil, revenus et flux de livraison quand la ville est prête.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082782-AA37-4A48-8CC8-03D01C05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29150"/>
            <a:ext cx="4953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2F"/>
          </a:solidFill>
          <a:ln xmlns:a="http://schemas.openxmlformats.org/drawingml/2006/main" w="9525">
            <a:solidFill>
              <a:srgbClr val="29436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1545F3-7813-4DA1-BD53-02F79EA8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29150"/>
            <a:ext cx="76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D88D5D-1D70-4DE5-B8A6-603C3CA3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0060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Admin control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75B58F-725C-453F-B5BC-603A8F7D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162550"/>
            <a:ext cx="4343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9D6E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9D6E8"/>
                </a:solidFill>
                <a:latin typeface="Aptos"/>
                <a:ea typeface="Aptos"/>
                <a:cs typeface="Aptos"/>
              </a:rPr>
              <a:t>Restaurants, users, flags, compta, opérations, avis, notifications, audit.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C91A3E-D3EA-4ED4-8391-8084D20E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71750"/>
            <a:ext cx="3162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Même donnée métier. Mêmes rôles. Mêmes garde-fous.</a:t>
            </a:r>
          </a:p>
        </p:txBody>
      </p:sp>
      <p:sp>
        <p:nvSpPr>
          <p:cNvPr id="27" name="footer-source-03">
            <a:extLst xmlns:a="http://schemas.openxmlformats.org/drawingml/2006/main">
              <a:ext uri="{FF2B5EF4-FFF2-40B4-BE49-F238E27FC236}">
                <a16:creationId xmlns:a16="http://schemas.microsoft.com/office/drawing/2014/main" id="{07C60ABF-2D17-447E-AE79-028A0D1C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00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Source: docs/skills/TOK_APPLICATION_SKILL.md, src/App.tsx, feature catalog.</a:t>
            </a:r>
          </a:p>
        </p:txBody>
      </p:sp>
      <p:sp>
        <p:nvSpPr>
          <p:cNvPr id="28" name="page-marker-03">
            <a:extLst xmlns:a="http://schemas.openxmlformats.org/drawingml/2006/main">
              <a:ext uri="{FF2B5EF4-FFF2-40B4-BE49-F238E27FC236}">
                <a16:creationId xmlns:a16="http://schemas.microsoft.com/office/drawing/2014/main" id="{F1C98DEA-A323-4C43-B523-98AB8E9F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8937742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7014A9-4826-4BBF-AC88-A9BDABA9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C7FFB-30FC-4ECC-B072-DCE2E0AB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9922D7-30F1-4E51-98B8-35027995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E3C8FF-3B56-47FC-B6FD-3268FDF6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2952B-9AB7-44EA-B3F7-0CCFC54C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5250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9EBDE72A-08ED-42F3-8312-587B00DF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0E3054A1-929D-4705-8962-52AECDC8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WEDGE MARCHÉ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D7D447-9778-4A91-975A-81E90357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7620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Genève est un terrain d'attaque dense, lisible et francophone.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5E7BAB-B271-48ED-8BE2-CA92FB87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704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F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DE7F5"/>
                </a:solidFill>
                <a:latin typeface="Aptos"/>
                <a:ea typeface="Aptos"/>
                <a:cs typeface="Aptos"/>
              </a:rPr>
              <a:t>Le wedge doit rester opérationnel : prouver la répétabilité restaurant par restaurant avant d'étendre à Lausanne, Fribourg, Neuchâtel puis Suisse romande.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7E728F-E728-49E2-942B-ADABE0C1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2F"/>
          </a:solidFill>
          <a:ln xmlns:a="http://schemas.openxmlformats.org/drawingml/2006/main" w="9525">
            <a:solidFill>
              <a:srgbClr val="29436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1160E5-D4AB-4A3F-A30E-0B1B9E4A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A1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F6A1A"/>
                </a:solidFill>
                <a:latin typeface="Georgia"/>
                <a:ea typeface="Georgia"/>
                <a:cs typeface="Georgia"/>
              </a:rPr>
              <a:t>537'191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E2D86A-846D-46F5-A2C4-FE715BBC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2133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9D6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9D6E8"/>
                </a:solidFill>
                <a:latin typeface="Aptos"/>
                <a:ea typeface="Aptos"/>
                <a:cs typeface="Aptos"/>
              </a:rPr>
              <a:t>habitants dans le canton de Genève à fin 2025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40AD8D-37EA-46A2-9C5E-8DF7CB4A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67050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2F"/>
          </a:solidFill>
          <a:ln xmlns:a="http://schemas.openxmlformats.org/drawingml/2006/main" w="9525">
            <a:solidFill>
              <a:srgbClr val="2943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46EC19-1DEC-4555-88D8-02EFBB96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A3F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22A3FF"/>
                </a:solidFill>
                <a:latin typeface="Georgia"/>
                <a:ea typeface="Georgia"/>
                <a:cs typeface="Georgia"/>
              </a:rPr>
              <a:t>9.05M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E00422-06BE-4D83-A7D2-32B63861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81400"/>
            <a:ext cx="2133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9D6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9D6E8"/>
                </a:solidFill>
                <a:latin typeface="Aptos"/>
                <a:ea typeface="Aptos"/>
                <a:cs typeface="Aptos"/>
              </a:rPr>
              <a:t>résidents permanents en Suisse à fin 2024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5E4657-7DE7-49E0-B2FB-B2C73FC6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67050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2F"/>
          </a:solidFill>
          <a:ln xmlns:a="http://schemas.openxmlformats.org/drawingml/2006/main" w="9525">
            <a:solidFill>
              <a:srgbClr val="29436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3EB325-CF38-4C1A-90F8-4898A7C5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1945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A874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6A874"/>
                </a:solidFill>
                <a:latin typeface="Georgia"/>
                <a:ea typeface="Georgia"/>
                <a:cs typeface="Georgia"/>
              </a:rPr>
              <a:t>NOGA 56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1C1985-5525-4092-933E-22A91CCE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81400"/>
            <a:ext cx="2133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9D6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9D6E8"/>
                </a:solidFill>
                <a:latin typeface="Aptos"/>
                <a:ea typeface="Aptos"/>
                <a:cs typeface="Aptos"/>
              </a:rPr>
              <a:t>restauration, self-service, takeaway et consommation immédiate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0733F2-1BA2-4968-8ED1-052005F6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81300"/>
            <a:ext cx="2476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1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BB51E5-EA9C-4828-9E46-F3A1F467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289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1314B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21314B"/>
                </a:solidFill>
                <a:latin typeface="Georgia"/>
                <a:ea typeface="Georgia"/>
                <a:cs typeface="Georgia"/>
              </a:rPr>
              <a:t>Pourquoi Genève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BEC365-32F8-450F-835B-56F5890F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8615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Forte densité urbaine, marché international, premium food culture, contraintes de marge élevées et besoin de canaux locaux plus directs.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EFEBFF-B0A0-4676-95B1-A09C344D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762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FSO / geo.admin.ch, 03.04.2025; OCSTAT Genève, 2025; KUBB NOGA 2025.</a:t>
            </a:r>
          </a:p>
        </p:txBody>
      </p:sp>
      <p:sp>
        <p:nvSpPr>
          <p:cNvPr id="23" name="footer-source-04">
            <a:extLst xmlns:a="http://schemas.openxmlformats.org/drawingml/2006/main">
              <a:ext uri="{FF2B5EF4-FFF2-40B4-BE49-F238E27FC236}">
                <a16:creationId xmlns:a16="http://schemas.microsoft.com/office/drawing/2014/main" id="{7CDD36A9-E211-47FD-8A6F-1B5D45BE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00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Sources: FSO, OCSTAT, KUBB NOGA 2025.</a:t>
            </a:r>
          </a:p>
        </p:txBody>
      </p:sp>
      <p:sp>
        <p:nvSpPr>
          <p:cNvPr id="24" name="page-marker-04">
            <a:extLst xmlns:a="http://schemas.openxmlformats.org/drawingml/2006/main">
              <a:ext uri="{FF2B5EF4-FFF2-40B4-BE49-F238E27FC236}">
                <a16:creationId xmlns:a16="http://schemas.microsoft.com/office/drawing/2014/main" id="{8C38C61E-20F9-420C-BEBA-138F8CCF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774588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5BB01D-AF80-4DA2-9F36-7B5B80AC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92429E-BE0C-4252-9D40-4D4EC7BB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D9C06-955E-4DD9-8068-EB547D73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C92A2E-3A37-495C-8A51-8445C017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F54F03-B6DF-43B2-A793-2ED7EA5B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5250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4225F4DF-4893-4BD6-94D1-A464D04A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5C383D25-3E24-4450-8F50-1EE55A04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PRODUIT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B0EEE5-0851-4E74-8920-5AAA80E5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7524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Le dashboard convertit la vente en opérations répétables.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BF2427-BCA8-407A-A29D-49998D4E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676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F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DE7F5"/>
                </a:solidFill>
                <a:latin typeface="Aptos"/>
                <a:ea typeface="Aptos"/>
                <a:cs typeface="Aptos"/>
              </a:rPr>
              <a:t>Chaque module a une fonction économique : mieux présenter, mieux vendre, mieux remplir, mieux mesurer ou mieux sécuriser.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CD105-F9A0-43B4-8381-FB3D5FBB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33700"/>
            <a:ext cx="1000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2F"/>
          </a:solidFill>
          <a:ln xmlns:a="http://schemas.openxmlformats.org/drawingml/2006/main" w="9525">
            <a:solidFill>
              <a:srgbClr val="29436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73145B-F846-441F-BF72-48659A01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33700"/>
            <a:ext cx="1485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53A6E7-75F9-404C-9874-B0AE9728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Présenter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BE4E6C-7F7B-4180-A5D3-0823B5CA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067050"/>
            <a:ext cx="771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Profil, menu, photos, formules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351FAB-1D5D-4439-B8BF-BA191172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76650"/>
            <a:ext cx="1000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2F"/>
          </a:solidFill>
          <a:ln xmlns:a="http://schemas.openxmlformats.org/drawingml/2006/main" w="9525">
            <a:solidFill>
              <a:srgbClr val="29436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652F7B-9DEB-40CA-B392-1D5D308C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76650"/>
            <a:ext cx="1485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DE34AE-400A-4204-92DE-400A66A4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Vendre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97E60F-289F-46B6-A8D9-1528099F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10000"/>
            <a:ext cx="771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Offres, anti-gaspi, ventes flash, campagnes, actualités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B798A9-3F71-4428-8870-51B29CAF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1000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2F"/>
          </a:solidFill>
          <a:ln xmlns:a="http://schemas.openxmlformats.org/drawingml/2006/main" w="9525">
            <a:solidFill>
              <a:srgbClr val="29436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F4B35D-E7A4-42B8-9077-E3B18824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1485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9AB827-2D3A-4A7C-BF5E-A3B97005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Exécuter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F41D53-6E69-48CD-8B36-773FB7C9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552950"/>
            <a:ext cx="771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Réservations, commandes, service, plan de salle, support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C71E3A-F9B1-46B4-A6A9-455D7B50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62550"/>
            <a:ext cx="1000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2F"/>
          </a:solidFill>
          <a:ln xmlns:a="http://schemas.openxmlformats.org/drawingml/2006/main" w="9525">
            <a:solidFill>
              <a:srgbClr val="29436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3E15A6-0A16-4C88-A858-763CFAA3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62550"/>
            <a:ext cx="1485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469D14-4DC1-4F4C-AD90-E57BA6A7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768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Piloter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5DCBE7-B546-416C-BF80-8C937C4A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295900"/>
            <a:ext cx="771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Performances, factures, comparaison, avis, notifications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03D532-A8B8-4CBC-A266-9311A618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838200"/>
            <a:ext cx="24765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1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A35FDD-8FF6-4B5D-AEF3-31C25971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06680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1314B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21314B"/>
                </a:solidFill>
                <a:latin typeface="Georgia"/>
                <a:ea typeface="Georgia"/>
                <a:cs typeface="Georgia"/>
              </a:rPr>
              <a:t>Preuve produit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3CDB18-3BE1-48DF-BD5F-A9304B73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4668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90 routes déclarées dans l'app locale.</a:t>
            </a:r>
          </a:p>
        </p:txBody>
      </p:sp>
      <p:sp>
        <p:nvSpPr>
          <p:cNvPr id="29" name="footer-source-05">
            <a:extLst xmlns:a="http://schemas.openxmlformats.org/drawingml/2006/main">
              <a:ext uri="{FF2B5EF4-FFF2-40B4-BE49-F238E27FC236}">
                <a16:creationId xmlns:a16="http://schemas.microsoft.com/office/drawing/2014/main" id="{3B8AD9F0-4A93-4197-B6CF-AA3FC3E5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00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Sources: src/pages/dashboard, src/lib/featureCatalog.ts, src/App.tsx.</a:t>
            </a:r>
          </a:p>
        </p:txBody>
      </p:sp>
      <p:sp>
        <p:nvSpPr>
          <p:cNvPr id="30" name="page-marker-05">
            <a:extLst xmlns:a="http://schemas.openxmlformats.org/drawingml/2006/main">
              <a:ext uri="{FF2B5EF4-FFF2-40B4-BE49-F238E27FC236}">
                <a16:creationId xmlns:a16="http://schemas.microsoft.com/office/drawing/2014/main" id="{C180A4EF-B513-4BF5-853C-1C188F3D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3042289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62F02B-20AA-4403-9694-5A67B126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03111-EF62-406F-976B-5D52BA95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18F17-AA51-4DE4-BC0D-782DFBC7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426362-4FD8-4BC3-A209-477B2EA2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9B8C5-6CC0-4AED-871A-EA5CAD54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5250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51124F5F-D609-4FB5-B1DC-5B0BD4E6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70119EB8-9A57-4547-ADD8-A5D78FA6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BUSINESS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E48E8D-978B-461E-B903-18A66D92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7620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La monétisation commence avec l'activation, puis s'étend avec l'usage.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DC64B6-F8A4-4FDC-BB1E-6785876B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F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DE7F5"/>
                </a:solidFill>
                <a:latin typeface="Aptos"/>
                <a:ea typeface="Aptos"/>
                <a:cs typeface="Aptos"/>
              </a:rPr>
              <a:t>TOK évite de dépendre d'une seule commission : packs, tables, campagnes, abonnements, IA et services avancés peuvent composer le revenu.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DA29A7-FFF2-4EA4-9DD8-999C6FB0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7526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2F"/>
          </a:solidFill>
          <a:ln xmlns:a="http://schemas.openxmlformats.org/drawingml/2006/main" w="9525">
            <a:solidFill>
              <a:srgbClr val="29436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0B6ACB-A23F-4306-9F82-53CFD3D3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752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5B0315-F9AA-49B3-B487-6548C82C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B55952-B13A-424D-B25C-12CD319B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490-3'490 CHF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6272F9-53E6-4ED6-9D88-459BC24B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1381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9D6E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9D6E8"/>
                </a:solidFill>
                <a:latin typeface="Aptos"/>
                <a:ea typeface="Aptos"/>
                <a:cs typeface="Aptos"/>
              </a:rPr>
              <a:t>mise en place, menu, photos, campagnes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603CBE-5561-405E-821C-EE577C4F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33750"/>
            <a:ext cx="17526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2F"/>
          </a:solidFill>
          <a:ln xmlns:a="http://schemas.openxmlformats.org/drawingml/2006/main" w="9525">
            <a:solidFill>
              <a:srgbClr val="29436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590678-D7D3-4D13-A563-3B37AE71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33750"/>
            <a:ext cx="1752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23B05D-3CCB-45A4-8115-97EE5BCD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814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Usage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0223BE-F725-4EB7-9A56-6EB1B5F6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9433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A87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A874"/>
                </a:solidFill>
                <a:latin typeface="Aptos"/>
                <a:ea typeface="Aptos"/>
                <a:cs typeface="Aptos"/>
              </a:rPr>
              <a:t>5 CHF/table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02C785-E84E-4793-AD69-4C5076AD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343400"/>
            <a:ext cx="1381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9D6E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9D6E8"/>
                </a:solidFill>
                <a:latin typeface="Aptos"/>
                <a:ea typeface="Aptos"/>
                <a:cs typeface="Aptos"/>
              </a:rPr>
              <a:t>réservation confirmée et valeur lisible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83B890-5677-4A74-AA0D-766FB638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333750"/>
            <a:ext cx="17526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2F"/>
          </a:solidFill>
          <a:ln xmlns:a="http://schemas.openxmlformats.org/drawingml/2006/main" w="9525">
            <a:solidFill>
              <a:srgbClr val="29436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88DC75-D54D-43C8-970F-0F7A4FC0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333750"/>
            <a:ext cx="1752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079C84-B0B8-4569-B7B3-FA35F042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5814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Campagnes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57C3BD-F108-402D-8DFB-4369C18B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9433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A3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A3FF"/>
                </a:solidFill>
                <a:latin typeface="Aptos"/>
                <a:ea typeface="Aptos"/>
                <a:cs typeface="Aptos"/>
              </a:rPr>
              <a:t>CPM/CPC/CPA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DAD3B8-F6BB-48AE-9E85-9A55FE6E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343400"/>
            <a:ext cx="1381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9D6E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9D6E8"/>
                </a:solidFill>
                <a:latin typeface="Aptos"/>
                <a:ea typeface="Aptos"/>
                <a:cs typeface="Aptos"/>
              </a:rPr>
              <a:t>mise en avant et attribution locale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A609CA-9DE1-48B1-B194-1DC984E9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33750"/>
            <a:ext cx="17526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2F"/>
          </a:solidFill>
          <a:ln xmlns:a="http://schemas.openxmlformats.org/drawingml/2006/main" w="9525">
            <a:solidFill>
              <a:srgbClr val="29436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DCACBF-C596-40C2-A6E7-67C3BF61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33750"/>
            <a:ext cx="1752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C74C33-CE67-45F7-985F-A077DDCB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814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Récurrence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2822C9-B69C-4C8A-8859-BC2D8206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9433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B02A"/>
                </a:solidFill>
                <a:latin typeface="Aptos"/>
                <a:ea typeface="Aptos"/>
                <a:cs typeface="Aptos"/>
              </a:rPr>
              <a:t>Tok One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93B0B4-7B85-4EAC-89F4-4AB35A04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43400"/>
            <a:ext cx="1381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9D6E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9D6E8"/>
                </a:solidFill>
                <a:latin typeface="Aptos"/>
                <a:ea typeface="Aptos"/>
                <a:cs typeface="Aptos"/>
              </a:rPr>
              <a:t>abonnement client et avantages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BC49CC-0DEE-4169-B144-2C50C823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33750"/>
            <a:ext cx="17526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2F"/>
          </a:solidFill>
          <a:ln xmlns:a="http://schemas.openxmlformats.org/drawingml/2006/main" w="9525">
            <a:solidFill>
              <a:srgbClr val="29436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1E7A7E-019A-460A-8406-AF75600A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33750"/>
            <a:ext cx="1752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5C24C1-013A-4DB5-9EA7-58AECF97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814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IA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53F1A8-1780-4C5B-9349-DE07A87D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433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64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864FF"/>
                </a:solidFill>
                <a:latin typeface="Aptos"/>
                <a:ea typeface="Aptos"/>
                <a:cs typeface="Aptos"/>
              </a:rPr>
              <a:t>photos + insights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C5B856-CC29-45A4-88FE-F07E28EC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43400"/>
            <a:ext cx="1381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9D6E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9D6E8"/>
                </a:solidFill>
                <a:latin typeface="Aptos"/>
                <a:ea typeface="Aptos"/>
                <a:cs typeface="Aptos"/>
              </a:rPr>
              <a:t>contenu premium et recommandations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4D9A57-D458-40C6-B737-0F55F793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1019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A1A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6A1A"/>
                </a:solidFill>
                <a:latin typeface="Georgia"/>
                <a:ea typeface="Georgia"/>
                <a:cs typeface="Georgia"/>
              </a:rPr>
              <a:t>Bridge de revenu : vendre l'installation -&gt; activer le restaurant -&gt; mesurer l'usage -&gt; financer la croissance locale.</a:t>
            </a:r>
          </a:p>
        </p:txBody>
      </p:sp>
      <p:sp>
        <p:nvSpPr>
          <p:cNvPr id="36" name="footer-source-06">
            <a:extLst xmlns:a="http://schemas.openxmlformats.org/drawingml/2006/main">
              <a:ext uri="{FF2B5EF4-FFF2-40B4-BE49-F238E27FC236}">
                <a16:creationId xmlns:a16="http://schemas.microsoft.com/office/drawing/2014/main" id="{303D4DBD-B4EF-4EF5-AA36-B06958D9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00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Sources: launch pack migration; RestaurateursGeneve.tsx; campaign pricing docs.</a:t>
            </a:r>
          </a:p>
        </p:txBody>
      </p:sp>
      <p:sp>
        <p:nvSpPr>
          <p:cNvPr id="37" name="page-marker-06">
            <a:extLst xmlns:a="http://schemas.openxmlformats.org/drawingml/2006/main">
              <a:ext uri="{FF2B5EF4-FFF2-40B4-BE49-F238E27FC236}">
                <a16:creationId xmlns:a16="http://schemas.microsoft.com/office/drawing/2014/main" id="{70FAADC4-D9C9-498D-BB3D-CD292F34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8537143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B06CB4-D01D-44DD-84FD-2012F97E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A0721-D31B-4273-A0DA-ED1CAB55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F79359-FFC0-4C95-943A-5E17EF3A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94A19-5194-4D58-9B55-33B10AD8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A6FDA1-5AD3-48C9-B7B3-30F7E681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5250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945C5DE2-321C-4FCB-A623-956092F2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3DB4F6B8-B8F1-49B4-BD8F-D3D1E5C0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GROWTH LOOP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B0E54F-30AD-48A4-BBEF-4CA4F9DF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781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Chaque restaurant activé doit rendre le marketplace plus liquide.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2BFC7C-2473-49A2-8B56-6EA39A7E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F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DE7F5"/>
                </a:solidFill>
                <a:latin typeface="Aptos"/>
                <a:ea typeface="Aptos"/>
                <a:cs typeface="Aptos"/>
              </a:rPr>
              <a:t>Le moteur de croissance repose sur une boucle locale : supply mieux présentée, demand mieux convertie, données plus utiles, campagnes mieux ciblées.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DF0E09-4680-491D-B73B-F03F633E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1619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2F"/>
          </a:solidFill>
          <a:ln xmlns:a="http://schemas.openxmlformats.org/drawingml/2006/main" w="9525">
            <a:solidFill>
              <a:srgbClr val="29436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6D35D8-BD30-43EE-8576-63544D52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E70C5B-0359-414A-BAF1-297E82F4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090513-501A-49E7-874A-F8D7AA64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Signer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C91809-53BC-4D14-8AF5-4A935111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1219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9D6E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9D6E8"/>
                </a:solidFill>
                <a:latin typeface="Aptos"/>
                <a:ea typeface="Aptos"/>
                <a:cs typeface="Aptos"/>
              </a:rPr>
              <a:t>Prospection restaurateur + pack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4A02E5-FB86-4B21-BAC7-6DBEEEF5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433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C56C6A-3390-4924-ADF0-6B567782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90950"/>
            <a:ext cx="209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09DA1C-B9AD-4122-BC82-58320E59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295650"/>
            <a:ext cx="1619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2F"/>
          </a:solidFill>
          <a:ln xmlns:a="http://schemas.openxmlformats.org/drawingml/2006/main" w="9525">
            <a:solidFill>
              <a:srgbClr val="2943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3A35B6-1373-4416-A581-A4F099C4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05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D34DAA-0955-4473-8CDC-1CEE3808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623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0E903B-EE21-4A13-99CF-23B3CBC0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96240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Publier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DA3875-0CED-43EC-987B-4A27C571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24350"/>
            <a:ext cx="1219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9D6E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9D6E8"/>
                </a:solidFill>
                <a:latin typeface="Aptos"/>
                <a:ea typeface="Aptos"/>
                <a:cs typeface="Aptos"/>
              </a:rPr>
              <a:t>Menu, photos, offres, créneaux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DC5ED5-CC01-47E7-BF32-EBD04C0D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433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4B8C16-D7C0-4081-8944-A87332EE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90950"/>
            <a:ext cx="209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E19C2D-46BB-494F-BE83-31820B6E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95650"/>
            <a:ext cx="1619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2F"/>
          </a:solidFill>
          <a:ln xmlns:a="http://schemas.openxmlformats.org/drawingml/2006/main" w="9525">
            <a:solidFill>
              <a:srgbClr val="29436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6AD607-1F1B-4452-A64D-2061108D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05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0EA8EA-C437-4B91-AB2C-85A29B44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623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E35632-7DD1-4E52-B334-72E79F96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6240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Convertir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EB1835-D76C-4641-88AC-879B600B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24350"/>
            <a:ext cx="1219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9D6E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9D6E8"/>
                </a:solidFill>
                <a:latin typeface="Aptos"/>
                <a:ea typeface="Aptos"/>
                <a:cs typeface="Aptos"/>
              </a:rPr>
              <a:t>Recherche, panier, réservation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5B8464-706F-4F2C-AB65-9BC9C2DC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433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129D8F-B565-4B09-878C-E88760AC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90950"/>
            <a:ext cx="209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A08426-F4D3-4305-8B00-656C643F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95650"/>
            <a:ext cx="1619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2F"/>
          </a:solidFill>
          <a:ln xmlns:a="http://schemas.openxmlformats.org/drawingml/2006/main" w="9525">
            <a:solidFill>
              <a:srgbClr val="29436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86556B-AC2B-43F7-A10D-6017F72D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05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C3B841-CCF3-466B-ABD0-2634E5AF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623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AB99E0-E6C2-4B8A-BE79-6CC1C0B3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6240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Mesurer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8259C4-89B3-4260-AAEC-F48AD14F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324350"/>
            <a:ext cx="1219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9D6E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9D6E8"/>
                </a:solidFill>
                <a:latin typeface="Aptos"/>
                <a:ea typeface="Aptos"/>
                <a:cs typeface="Aptos"/>
              </a:rPr>
              <a:t>Avis, factures, performance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6C0CBF-C56E-4AEE-9529-2FDE883F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433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158BCD-2B1E-4E30-8BDF-361FDDB4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90950"/>
            <a:ext cx="209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2FEE63-756A-473F-B7FE-27447683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95650"/>
            <a:ext cx="1619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2F"/>
          </a:solidFill>
          <a:ln xmlns:a="http://schemas.openxmlformats.org/drawingml/2006/main" w="9525">
            <a:solidFill>
              <a:srgbClr val="29436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E48733-1A18-4D41-97ED-E29C39EA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05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5C8AFB-F2FF-4B4C-9FF1-A435EDD7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623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753E675-448F-40BC-8461-C83CD9A2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6240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Réinvestir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2B8C990-982C-45D2-9DFA-B81103F4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24350"/>
            <a:ext cx="1219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9D6E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9D6E8"/>
                </a:solidFill>
                <a:latin typeface="Aptos"/>
                <a:ea typeface="Aptos"/>
                <a:cs typeface="Aptos"/>
              </a:rPr>
              <a:t>Campagnes + Miamz + Tok One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ACBADE-E7E1-49EB-9BC3-785478AB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962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6A1A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FF6A1A"/>
                </a:solidFill>
                <a:latin typeface="Georgia"/>
                <a:ea typeface="Georgia"/>
                <a:cs typeface="Georgia"/>
              </a:rPr>
              <a:t>La ville devient défendable quand les restaurants, clients et opérations se renforcent dans les mêmes quartiers.</a:t>
            </a:r>
          </a:p>
        </p:txBody>
      </p:sp>
      <p:sp>
        <p:nvSpPr>
          <p:cNvPr id="44" name="footer-source-07">
            <a:extLst xmlns:a="http://schemas.openxmlformats.org/drawingml/2006/main">
              <a:ext uri="{FF2B5EF4-FFF2-40B4-BE49-F238E27FC236}">
                <a16:creationId xmlns:a16="http://schemas.microsoft.com/office/drawing/2014/main" id="{EE53BFCF-7618-42BF-9013-FD3C6752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00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Sources: produit TOK, feature flags, modules dashboard et client.</a:t>
            </a:r>
          </a:p>
        </p:txBody>
      </p:sp>
      <p:sp>
        <p:nvSpPr>
          <p:cNvPr id="45" name="page-marker-07">
            <a:extLst xmlns:a="http://schemas.openxmlformats.org/drawingml/2006/main">
              <a:ext uri="{FF2B5EF4-FFF2-40B4-BE49-F238E27FC236}">
                <a16:creationId xmlns:a16="http://schemas.microsoft.com/office/drawing/2014/main" id="{B81510FE-8F9A-4C34-BFFC-415D3A41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0995021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31332F-FE69-4EAE-AAF3-10BB1637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D17519-BA52-4C25-B212-086BB0A8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E672B-2B4E-4F37-A4DE-2A22225C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53354E-9E17-46B0-B270-2C2C390E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3408C3-0C80-4D9F-B91D-4A652A09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5250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4A06B7E7-DE7E-4B2B-9E78-5401A988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7F5F9728-B0B3-4DC8-A7EA-13C22035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GO-TO-MARKET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DC7F6F-3CF3-45A6-885F-CF7F33D4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781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Le moteur commercial est déjà modélisé comme un système d'activation.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8BB15E-713F-4D26-97ED-CDEBB0DB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7429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F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DE7F5"/>
                </a:solidFill>
                <a:latin typeface="Aptos"/>
                <a:ea typeface="Aptos"/>
                <a:cs typeface="Aptos"/>
              </a:rPr>
              <a:t>Le repo prévoit leads, deals, représentants, objectifs mensuels, commissions et jalons d'activation. C'est la base d'une machine commerciale mesurable.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BD897E-6C51-4614-A4EA-64267D6C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129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2F"/>
          </a:solidFill>
          <a:ln xmlns:a="http://schemas.openxmlformats.org/drawingml/2006/main" w="9525">
            <a:solidFill>
              <a:srgbClr val="294365"/>
            </a:solidFill>
            <a:prstDash val="solid"/>
          </a:ln>
        </p:spPr>
        <p:txBody>
          <a:bodyPr xmlns:a="http://schemas.openxmlformats.org/drawingml/2006/main" lIns="76200" tIns="95250" rIns="7620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Nouveau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C3674A-E2FE-44D6-9B5F-AFAAB246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4861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7F9D89-FAAD-483D-AC88-733C32D1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76600"/>
            <a:ext cx="129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2F"/>
          </a:solidFill>
          <a:ln xmlns:a="http://schemas.openxmlformats.org/drawingml/2006/main" w="9525">
            <a:solidFill>
              <a:srgbClr val="294365"/>
            </a:solidFill>
            <a:prstDash val="solid"/>
          </a:ln>
        </p:spPr>
        <p:txBody>
          <a:bodyPr xmlns:a="http://schemas.openxmlformats.org/drawingml/2006/main" lIns="76200" tIns="95250" rIns="7620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Contacté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AB0B9F-3254-4653-AF61-2EBC725F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861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ECA22E-D992-431D-9B02-BF12CBBC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276600"/>
            <a:ext cx="129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2F"/>
          </a:solidFill>
          <a:ln xmlns:a="http://schemas.openxmlformats.org/drawingml/2006/main" w="9525">
            <a:solidFill>
              <a:srgbClr val="294365"/>
            </a:solidFill>
            <a:prstDash val="solid"/>
          </a:ln>
        </p:spPr>
        <p:txBody>
          <a:bodyPr xmlns:a="http://schemas.openxmlformats.org/drawingml/2006/main" lIns="76200" tIns="95250" rIns="7620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Démo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2D61DA-56CF-4264-910A-C9BD8528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4861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0D4E1B-337E-4EBF-977A-BC69EAD0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76600"/>
            <a:ext cx="129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2F"/>
          </a:solidFill>
          <a:ln xmlns:a="http://schemas.openxmlformats.org/drawingml/2006/main" w="9525">
            <a:solidFill>
              <a:srgbClr val="294365"/>
            </a:solidFill>
            <a:prstDash val="solid"/>
          </a:ln>
        </p:spPr>
        <p:txBody>
          <a:bodyPr xmlns:a="http://schemas.openxmlformats.org/drawingml/2006/main" lIns="76200" tIns="95250" rIns="7620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Signé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B96A70-EF34-4A41-931C-89A4281C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861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2ABFD1-B3C9-45B8-BAF6-5EEB96A0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76600"/>
            <a:ext cx="129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2F"/>
          </a:solidFill>
          <a:ln xmlns:a="http://schemas.openxmlformats.org/drawingml/2006/main" w="9525">
            <a:solidFill>
              <a:srgbClr val="294365"/>
            </a:solidFill>
            <a:prstDash val="solid"/>
          </a:ln>
        </p:spPr>
        <p:txBody>
          <a:bodyPr xmlns:a="http://schemas.openxmlformats.org/drawingml/2006/main" lIns="76200" tIns="95250" rIns="7620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Activé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5EE39B-4331-4593-A0D2-5502F0AB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861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9FBF9E-532E-47BA-A09B-8786581F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76600"/>
            <a:ext cx="129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1827"/>
          </a:solidFill>
          <a:ln xmlns:a="http://schemas.openxmlformats.org/drawingml/2006/main" w="9525">
            <a:solidFill>
              <a:srgbClr val="7F1D1D"/>
            </a:solidFill>
            <a:prstDash val="solid"/>
          </a:ln>
        </p:spPr>
        <p:txBody>
          <a:bodyPr xmlns:a="http://schemas.openxmlformats.org/drawingml/2006/main" lIns="76200" tIns="95250" rIns="7620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Perdu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4F72EC-549E-4590-A339-79CBBEB4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2F"/>
          </a:solidFill>
          <a:ln xmlns:a="http://schemas.openxmlformats.org/drawingml/2006/main" w="9525">
            <a:solidFill>
              <a:srgbClr val="29436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B23BA3-FEB7-4CA0-9E46-062463A5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A1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F6A1A"/>
                </a:solidFill>
                <a:latin typeface="Georgia"/>
                <a:ea typeface="Georgia"/>
                <a:cs typeface="Georgia"/>
              </a:rPr>
              <a:t>10/mois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4B0770-FDC2-4ECF-B120-C549D24A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9D6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9D6E8"/>
                </a:solidFill>
                <a:latin typeface="Aptos"/>
                <a:ea typeface="Aptos"/>
                <a:cs typeface="Aptos"/>
              </a:rPr>
              <a:t>objectif mensuel par commercial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1603B1-302B-4FB7-B1E1-7C646D90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4577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2F"/>
          </a:solidFill>
          <a:ln xmlns:a="http://schemas.openxmlformats.org/drawingml/2006/main" w="9525">
            <a:solidFill>
              <a:srgbClr val="29436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FD42D3-B7F5-4851-8622-224A0710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61010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A874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6A874"/>
                </a:solidFill>
                <a:latin typeface="Georgia"/>
                <a:ea typeface="Georgia"/>
                <a:cs typeface="Georgia"/>
              </a:rPr>
              <a:t>7%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73A817-8D3F-46D5-905D-CC45E998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720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9D6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9D6E8"/>
                </a:solidFill>
                <a:latin typeface="Aptos"/>
                <a:ea typeface="Aptos"/>
                <a:cs typeface="Aptos"/>
              </a:rPr>
              <a:t>commission commerciale par défaut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CF8382-E635-4BE3-B28E-0BFC0A18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577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2F"/>
          </a:solidFill>
          <a:ln xmlns:a="http://schemas.openxmlformats.org/drawingml/2006/main" w="9525">
            <a:solidFill>
              <a:srgbClr val="29436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3A759E-1CEF-4BCF-9CA5-85962F5D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1010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A3F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22A3FF"/>
                </a:solidFill>
                <a:latin typeface="Georgia"/>
                <a:ea typeface="Georgia"/>
                <a:cs typeface="Georgia"/>
              </a:rPr>
              <a:t>12%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2DD1F2-2875-449B-AAEC-31748638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720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9D6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9D6E8"/>
                </a:solidFill>
                <a:latin typeface="Aptos"/>
                <a:ea typeface="Aptos"/>
                <a:cs typeface="Aptos"/>
              </a:rPr>
              <a:t>plafond de commission dans la gouvernance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82F6F5-AEB2-486C-9B03-E59E665B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67200"/>
            <a:ext cx="2095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1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593DA9-FAE3-4E02-85FE-16B6F3E8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9580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314B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21314B"/>
                </a:solidFill>
                <a:latin typeface="Georgia"/>
                <a:ea typeface="Georgia"/>
                <a:cs typeface="Georgia"/>
              </a:rPr>
              <a:t>Ce qui manque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5A1C96-0B4D-4B04-A99A-1F133223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838700"/>
            <a:ext cx="1676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220"/>
                </a:solidFill>
                <a:latin typeface="Aptos"/>
                <a:ea typeface="Aptos"/>
                <a:cs typeface="Aptos"/>
              </a:rPr>
              <a:t>Prouver taux de démo, signature, activation et rétention.</a:t>
            </a:r>
          </a:p>
        </p:txBody>
      </p:sp>
      <p:sp>
        <p:nvSpPr>
          <p:cNvPr id="33" name="footer-source-08">
            <a:extLst xmlns:a="http://schemas.openxmlformats.org/drawingml/2006/main">
              <a:ext uri="{FF2B5EF4-FFF2-40B4-BE49-F238E27FC236}">
                <a16:creationId xmlns:a16="http://schemas.microsoft.com/office/drawing/2014/main" id="{902E5CAE-ADD2-4D28-B702-1AC44AB2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00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Source: 20260607033000_platform_finance_sales_governance.sql.</a:t>
            </a:r>
          </a:p>
        </p:txBody>
      </p:sp>
      <p:sp>
        <p:nvSpPr>
          <p:cNvPr id="34" name="page-marker-08">
            <a:extLst xmlns:a="http://schemas.openxmlformats.org/drawingml/2006/main">
              <a:ext uri="{FF2B5EF4-FFF2-40B4-BE49-F238E27FC236}">
                <a16:creationId xmlns:a16="http://schemas.microsoft.com/office/drawing/2014/main" id="{F0BC097C-8FFC-41FE-BDB1-9BDE9064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4349351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53DE95-5C7C-4196-BFB5-FFF783F8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F8E8C-77FC-4515-8103-DCFD498A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F41534-64AF-4060-BF48-859EB7FB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681D1-1ACC-4137-A9D0-E72D0B47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2A3CAA-EBFB-448E-9E07-58236EE1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5250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9EB49461-6644-498A-9BFA-08EA0EC1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F9371F93-CC6B-41D7-9AB9-8B0821D8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ÉCONOMIE RESTAURANT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1DF109-2DB3-47F7-8D6C-29E9E285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781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Le simulateur rend la promesse commerciale tangible dès la démo.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0A7FB5-D9DD-45D7-AC08-33E19447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7715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F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DE7F5"/>
                </a:solidFill>
                <a:latin typeface="Aptos"/>
                <a:ea typeface="Aptos"/>
                <a:cs typeface="Aptos"/>
              </a:rPr>
              <a:t>Exemple interne basé sur la page B2B : 120 tables/mois, 42 CHF de ticket moyen, pack Croissance 149 CHF/mois et 600 CHF de marketing.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A74DB0-05A4-4CAB-92BF-F997D7C2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 estimé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373DC-9F9A-47D2-9A1C-ED288573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81350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DBB467-5E74-4E28-9682-55298E61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81350"/>
            <a:ext cx="56292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4D8507-8877-4BA1-A5F4-8140411F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432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A1A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FF6A1A"/>
                </a:solidFill>
                <a:latin typeface="Georgia"/>
                <a:ea typeface="Georgia"/>
                <a:cs typeface="Georgia"/>
              </a:rPr>
              <a:t>5 040 CHF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70D0EF-45A4-4A9D-8887-29B0838E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Frais TOK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5E7E8B-1D81-4680-B0FB-904A9270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10000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85C003-6B64-40BF-BD61-1A5E8CEC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1000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901922-310B-4330-BC10-4F4A125B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719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A3FF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22A3FF"/>
                </a:solidFill>
                <a:latin typeface="Georgia"/>
                <a:ea typeface="Georgia"/>
                <a:cs typeface="Georgia"/>
              </a:rPr>
              <a:t>749 CHF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08D638-074B-4B94-BA7A-B2C01ABF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Marketing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D7DFD6-7DC5-49F7-9318-0E1B23A8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38650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F20690-7626-4B8D-944C-EF843A30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386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40623E-1E80-43DC-B10D-E3EA4761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005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B02A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FFB02A"/>
                </a:solidFill>
                <a:latin typeface="Georgia"/>
                <a:ea typeface="Georgia"/>
                <a:cs typeface="Georgia"/>
              </a:rPr>
              <a:t>600 CHF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E7006E-975B-4F07-9D3F-9E789537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Marge après TOK + marketing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1B9F52-B212-4573-BA78-7BFE74C3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67300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E7D8ED-6837-4064-8833-2BEA2F4E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67300"/>
            <a:ext cx="41243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A042E4-14C5-4E5F-A697-AAD6312B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0292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A874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6A874"/>
                </a:solidFill>
                <a:latin typeface="Georgia"/>
                <a:ea typeface="Georgia"/>
                <a:cs typeface="Georgia"/>
              </a:rPr>
              <a:t>3 691 CHF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810D8B-7AF0-4013-BA4E-29300DA8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9867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2F"/>
          </a:solidFill>
          <a:ln xmlns:a="http://schemas.openxmlformats.org/drawingml/2006/main" w="9525">
            <a:solidFill>
              <a:srgbClr val="29436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D3EDA5-61CC-43D3-BB61-CE319C34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942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Ce slide doit être remplacé par des cohortes réelles dès que les premiers restaurants activés produisent des données fiables.</a:t>
            </a:r>
          </a:p>
        </p:txBody>
      </p:sp>
      <p:sp>
        <p:nvSpPr>
          <p:cNvPr id="28" name="footer-source-09">
            <a:extLst xmlns:a="http://schemas.openxmlformats.org/drawingml/2006/main">
              <a:ext uri="{FF2B5EF4-FFF2-40B4-BE49-F238E27FC236}">
                <a16:creationId xmlns:a16="http://schemas.microsoft.com/office/drawing/2014/main" id="{6D66466F-2867-415A-8B58-19CD9ADF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00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Source: simulation interne RestaurateursGeneve.tsx; ne pas présenter comme traction réelle.</a:t>
            </a:r>
          </a:p>
        </p:txBody>
      </p:sp>
      <p:sp>
        <p:nvSpPr>
          <p:cNvPr id="29" name="page-marker-09">
            <a:extLst xmlns:a="http://schemas.openxmlformats.org/drawingml/2006/main">
              <a:ext uri="{FF2B5EF4-FFF2-40B4-BE49-F238E27FC236}">
                <a16:creationId xmlns:a16="http://schemas.microsoft.com/office/drawing/2014/main" id="{12BC0B07-100A-45F8-A6A6-7DCBEBC4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5642067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E47EFC-D778-4376-9DBF-66A17E5B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89AA2-269B-4510-822B-9D6E6E87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721074-FA78-4E7E-B3D6-31D314BB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D9BE9-6BBA-4D10-992A-C44D600E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F765D8-0DFD-4FD3-9E89-5F6A0D7E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5250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4D69995B-B917-4F32-918F-61DBEA1A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E9D97026-1D73-4E26-8C0F-82AEEECC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MATURITÉ TECHNIQUE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07A2C-AF95-49B7-BD45-87325CE6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781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Le produit local ressemble déjà à une plateforme transactionnelle.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644916-5BB6-4E66-B435-7FFBD53A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F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DE7F5"/>
                </a:solidFill>
                <a:latin typeface="Aptos"/>
                <a:ea typeface="Aptos"/>
                <a:cs typeface="Aptos"/>
              </a:rPr>
              <a:t>La profondeur du repo montre une ambition au-delà d'une landing page : routes, tests, migrations, Edge Functions et gouvernance de release.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BA4C31-0E8A-4C61-AB8E-6BFD2895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2190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2F"/>
          </a:solidFill>
          <a:ln xmlns:a="http://schemas.openxmlformats.org/drawingml/2006/main" w="9525">
            <a:solidFill>
              <a:srgbClr val="29436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082CAE-241F-4D4F-8F39-EB187CD6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A1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F6A1A"/>
                </a:solidFill>
                <a:latin typeface="Georgia"/>
                <a:ea typeface="Georgia"/>
                <a:cs typeface="Georgia"/>
              </a:rPr>
              <a:t>90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8940F6-77F9-44F5-8E61-64670963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9D6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9D6E8"/>
                </a:solidFill>
                <a:latin typeface="Aptos"/>
                <a:ea typeface="Aptos"/>
                <a:cs typeface="Aptos"/>
              </a:rPr>
              <a:t>routes React déclarées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7E252B-E3E2-48EC-99BC-D739A610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86100"/>
            <a:ext cx="2190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2F"/>
          </a:solidFill>
          <a:ln xmlns:a="http://schemas.openxmlformats.org/drawingml/2006/main" w="9525">
            <a:solidFill>
              <a:srgbClr val="2943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0E64B1-DA21-44DA-AE7C-051AD20C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385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A874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6A874"/>
                </a:solidFill>
                <a:latin typeface="Georgia"/>
                <a:ea typeface="Georgia"/>
                <a:cs typeface="Georgia"/>
              </a:rPr>
              <a:t>193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23307B-4708-4185-894D-AB61898B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00450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9D6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9D6E8"/>
                </a:solidFill>
                <a:latin typeface="Aptos"/>
                <a:ea typeface="Aptos"/>
                <a:cs typeface="Aptos"/>
              </a:rPr>
              <a:t>fichiers de tests Vitest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188D07-CA27-4EEE-B289-C74B6B73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86100"/>
            <a:ext cx="2190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2F"/>
          </a:solidFill>
          <a:ln xmlns:a="http://schemas.openxmlformats.org/drawingml/2006/main" w="9525">
            <a:solidFill>
              <a:srgbClr val="29436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A392CF-998D-4B98-BDDE-3FBCD3E2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A3F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22A3FF"/>
                </a:solidFill>
                <a:latin typeface="Georgia"/>
                <a:ea typeface="Georgia"/>
                <a:cs typeface="Georgia"/>
              </a:rPr>
              <a:t>44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DF6E85-E743-49B3-8D8C-F1CF24A8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00450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9D6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9D6E8"/>
                </a:solidFill>
                <a:latin typeface="Aptos"/>
                <a:ea typeface="Aptos"/>
                <a:cs typeface="Aptos"/>
              </a:rPr>
              <a:t>Edge Functions Supabase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951700-53FD-4D9E-BAA9-B0DE092B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86100"/>
            <a:ext cx="2190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2F"/>
          </a:solidFill>
          <a:ln xmlns:a="http://schemas.openxmlformats.org/drawingml/2006/main" w="9525">
            <a:solidFill>
              <a:srgbClr val="29436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93567D-6CC0-4A08-BBAA-BC203782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385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B02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FB02A"/>
                </a:solidFill>
                <a:latin typeface="Georgia"/>
                <a:ea typeface="Georgia"/>
                <a:cs typeface="Georgia"/>
              </a:rPr>
              <a:t>229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C81354-BA3A-4B4F-BFCD-EF12F8DA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00450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9D6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9D6E8"/>
                </a:solidFill>
                <a:latin typeface="Aptos"/>
                <a:ea typeface="Aptos"/>
                <a:cs typeface="Aptos"/>
              </a:rPr>
              <a:t>migrations SQL locales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F0D5CD-B046-42C0-A764-B6F55D18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962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1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3706C0-F438-4AB6-B7DD-265C79DE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95850"/>
            <a:ext cx="908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1314B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21314B"/>
                </a:solidFill>
                <a:latin typeface="Georgia"/>
                <a:ea typeface="Georgia"/>
                <a:cs typeface="Georgia"/>
              </a:rPr>
              <a:t>Le risque investisseur n'est pas l'absence de produit ; c'est la priorisation des parcours critiques et la preuve de répétabilité commerciale.</a:t>
            </a:r>
          </a:p>
        </p:txBody>
      </p:sp>
      <p:sp>
        <p:nvSpPr>
          <p:cNvPr id="24" name="footer-source-10">
            <a:extLst xmlns:a="http://schemas.openxmlformats.org/drawingml/2006/main">
              <a:ext uri="{FF2B5EF4-FFF2-40B4-BE49-F238E27FC236}">
                <a16:creationId xmlns:a16="http://schemas.microsoft.com/office/drawing/2014/main" id="{E190EEFE-9A6F-429B-B652-CCBBFB33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00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Source: snapshot local par commandes rg/Measure-Object, 07/06/2026.</a:t>
            </a:r>
          </a:p>
        </p:txBody>
      </p:sp>
      <p:sp>
        <p:nvSpPr>
          <p:cNvPr id="25" name="page-marker-10">
            <a:extLst xmlns:a="http://schemas.openxmlformats.org/drawingml/2006/main">
              <a:ext uri="{FF2B5EF4-FFF2-40B4-BE49-F238E27FC236}">
                <a16:creationId xmlns:a16="http://schemas.microsoft.com/office/drawing/2014/main" id="{1538CB2D-CF51-4440-BA67-DA1BDB58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5500131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6CDEFC-8714-44E7-9D4E-AC378EB6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3C2E7A-1567-4757-ACFE-4F713A10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182573-265B-4C1D-B070-535CBDDC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B0172F-4D5B-44C9-94F2-92ED7D19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01154-145F-49BF-B128-BE2393BB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5250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27973877-1DAF-4074-A465-AE42EE6F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B953D188-27DF-4D43-95D0-1CAC5A2B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PLAN D'EXÉCUTION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C5F8F-8FA9-4CF3-B075-D2FACC6A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8001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Le capital doit transformer la richesse produit en fiabilité et répétabilité.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D8C392-048A-4431-A30E-B4150FAF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7429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F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DE7F5"/>
                </a:solidFill>
                <a:latin typeface="Aptos"/>
                <a:ea typeface="Aptos"/>
                <a:cs typeface="Aptos"/>
              </a:rPr>
              <a:t>Le plan d'audit local donne une trajectoire claire : sécuriser les parcours critiques, construire la liquidité marketplace, puis renforcer les leviers différenciants.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86DE97-DD46-4D70-AEE0-5CA2E2F2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30099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2F"/>
          </a:solidFill>
          <a:ln xmlns:a="http://schemas.openxmlformats.org/drawingml/2006/main" w="9525">
            <a:solidFill>
              <a:srgbClr val="29436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731078-5303-4593-B817-E08E399A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3009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D47F16-07CF-4B60-8449-144066B4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P0 - Fiabiliser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3BE7D0-2390-4FD5-A716-6BC0A7C1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386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9D6E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9D6E8"/>
                </a:solidFill>
                <a:latin typeface="Aptos"/>
                <a:ea typeface="Aptos"/>
                <a:cs typeface="Aptos"/>
              </a:rPr>
              <a:t>Checkout, webhooks, commande, suivi, dashboard temps réel, tests SQL/RPC.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8A4388-22D7-4FD2-A268-47A0AFDD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81350"/>
            <a:ext cx="30099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2F"/>
          </a:solidFill>
          <a:ln xmlns:a="http://schemas.openxmlformats.org/drawingml/2006/main" w="9525">
            <a:solidFill>
              <a:srgbClr val="29436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419605-AA0F-467E-9B3C-0C6C7F00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81350"/>
            <a:ext cx="3009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77E354-1809-408C-A565-8A08F5DB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671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P1 - Opérer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C7CB2A-81D0-4841-A2DB-07B6075B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386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9D6E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9D6E8"/>
                </a:solidFill>
                <a:latin typeface="Aptos"/>
                <a:ea typeface="Aptos"/>
                <a:cs typeface="Aptos"/>
              </a:rPr>
              <a:t>Dispatch, ETA, notifications, support, remboursements, analytics restaurateur.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303C9A-1CDD-4388-88F3-E46CF51A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81350"/>
            <a:ext cx="30099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2F"/>
          </a:solidFill>
          <a:ln xmlns:a="http://schemas.openxmlformats.org/drawingml/2006/main" w="9525">
            <a:solidFill>
              <a:srgbClr val="29436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727D55-6DAD-4875-A051-0A6D8196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81350"/>
            <a:ext cx="3009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EBB692-72C3-44AA-B6DE-56D74567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671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P2 - Accélérer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0B0F31-BB88-4E1B-889A-7A204F46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386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9D6E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9D6E8"/>
                </a:solidFill>
                <a:latin typeface="Aptos"/>
                <a:ea typeface="Aptos"/>
                <a:cs typeface="Aptos"/>
              </a:rPr>
              <a:t>Publicité locale avancée, IA menu/photos, personnalisation, fidélité, SEO.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80C991-FAAC-483C-9ED8-5FDEC8C5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245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6A1A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FF6A1A"/>
                </a:solidFill>
                <a:latin typeface="Georgia"/>
                <a:ea typeface="Georgia"/>
                <a:cs typeface="Georgia"/>
              </a:rPr>
              <a:t>Message investisseur : financer l'ordre d'exécution, pas l'ajout désordonné de fonctionnalités.</a:t>
            </a:r>
          </a:p>
        </p:txBody>
      </p:sp>
      <p:sp>
        <p:nvSpPr>
          <p:cNvPr id="23" name="footer-source-11">
            <a:extLst xmlns:a="http://schemas.openxmlformats.org/drawingml/2006/main">
              <a:ext uri="{FF2B5EF4-FFF2-40B4-BE49-F238E27FC236}">
                <a16:creationId xmlns:a16="http://schemas.microsoft.com/office/drawing/2014/main" id="{4E2F12AF-76C9-4139-9290-2AC06079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00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Source: docs/audits/2026-05-31-global-site-gap-audit.md.</a:t>
            </a:r>
          </a:p>
        </p:txBody>
      </p:sp>
      <p:sp>
        <p:nvSpPr>
          <p:cNvPr id="24" name="page-marker-11">
            <a:extLst xmlns:a="http://schemas.openxmlformats.org/drawingml/2006/main">
              <a:ext uri="{FF2B5EF4-FFF2-40B4-BE49-F238E27FC236}">
                <a16:creationId xmlns:a16="http://schemas.microsoft.com/office/drawing/2014/main" id="{4BDE06CD-19E3-4AF8-A421-EFE0FBD6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093395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816DD5-8367-4ACA-9E49-BF3ECA82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7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80F401-6A2E-4FFB-9B3C-653BB5D7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5B2886-624E-4F9D-9232-471E4146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3A491-2DA0-4A73-9783-8E2852EF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8726B-70F6-4620-A719-E50DF133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5250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6a874c93704e04"/>
          <a:stretch xmlns:a="http://schemas.openxmlformats.org/drawingml/2006/main"/>
        </p:blipFill>
        <p:spPr>
          <a:xfrm xmlns:a="http://schemas.openxmlformats.org/drawingml/2006/main">
            <a:off x="552450" y="514350"/>
            <a:ext cx="819150" cy="819150"/>
          </a:xfrm>
          <a:prstGeom xmlns:a="http://schemas.openxmlformats.org/drawingml/2006/main" prst="rect">
            <a:avLst/>
          </a:prstGeom>
        </p:spPr>
      </p:pic>
      <p:sp>
        <p:nvSpPr>
          <p:cNvPr id="7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C0E67A96-305B-4B3C-B765-C4F03292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84772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A5345B60-9C88-4953-9220-2F5E78B0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7810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INVESTIR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DF22ED-9857-4FF1-9FD8-7B53BEF7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7334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Prochaine étape : prouver Genève, puis scaler la méthode.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E2BBED-557D-4167-9D6F-2248BAAE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685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7F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DE7F5"/>
                </a:solidFill>
                <a:latin typeface="Aptos"/>
                <a:ea typeface="Aptos"/>
                <a:cs typeface="Aptos"/>
              </a:rPr>
              <a:t>Le montant exact et les métriques de traction doivent être ajoutés par les fondateurs. La structure de pitch est prête pour une conversation seed/pre-seed.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7492F6-A670-49D5-8D17-3E799E29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876300"/>
            <a:ext cx="32004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1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437F4F-EE46-461F-8515-8BFD6985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14300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14B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21314B"/>
                </a:solidFill>
                <a:latin typeface="Georgia"/>
                <a:ea typeface="Georgia"/>
                <a:cs typeface="Georgia"/>
              </a:rPr>
              <a:t>Use of funds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1CC191-DCB0-4034-B5AD-0F95ACA6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52600"/>
            <a:ext cx="2647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35%  Fiabilité paiements, commandes, tracking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70C663-7A83-4E60-84B8-81BD1567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19350"/>
            <a:ext cx="2647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30%  GTM Genève et onboarding restaurants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F15D79-39CC-4F95-8605-870A4905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86100"/>
            <a:ext cx="2647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20%  Restaurant success, contenu, support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ACD4F3-3E8B-4784-9297-770C3908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52850"/>
            <a:ext cx="2647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15%  Dispatch, data, sécurité, monitoring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4C4331-92C1-4872-AC50-C0BF2547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63436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2F"/>
          </a:solidFill>
          <a:ln xmlns:a="http://schemas.openxmlformats.org/drawingml/2006/main" w="9525">
            <a:solidFill>
              <a:srgbClr val="2943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29488E-3015-4DF9-BE13-AE9C99FE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581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À compléter avant envoi investisseur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745D10-A2B3-4540-92D4-D0069594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9600"/>
            <a:ext cx="581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9D6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9D6E8"/>
                </a:solidFill>
                <a:latin typeface="Aptos"/>
                <a:ea typeface="Aptos"/>
                <a:cs typeface="Aptos"/>
              </a:rPr>
              <a:t>restaurants signés, activation J+14, tables générées, revenus, marge, CAC, pipeline, churn, preuves clients.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1A79F4-353B-4E3E-B898-36F2503E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600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A1A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6A1A"/>
                </a:solidFill>
                <a:latin typeface="Georgia"/>
                <a:ea typeface="Georgia"/>
                <a:cs typeface="Georgia"/>
              </a:rPr>
              <a:t>TOK / TheTok - www.thetok.ch</a:t>
            </a:r>
          </a:p>
        </p:txBody>
      </p:sp>
      <p:sp>
        <p:nvSpPr>
          <p:cNvPr id="21" name="footer-source-12">
            <a:extLst xmlns:a="http://schemas.openxmlformats.org/drawingml/2006/main">
              <a:ext uri="{FF2B5EF4-FFF2-40B4-BE49-F238E27FC236}">
                <a16:creationId xmlns:a16="http://schemas.microsoft.com/office/drawing/2014/main" id="{56F7AD05-664E-4C15-BA65-2148DF51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00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Sources: repo TOK local; fundraising amount and traction to be founder-validated.</a:t>
            </a:r>
          </a:p>
        </p:txBody>
      </p:sp>
      <p:sp>
        <p:nvSpPr>
          <p:cNvPr id="22" name="page-marker-12">
            <a:extLst xmlns:a="http://schemas.openxmlformats.org/drawingml/2006/main">
              <a:ext uri="{FF2B5EF4-FFF2-40B4-BE49-F238E27FC236}">
                <a16:creationId xmlns:a16="http://schemas.microsoft.com/office/drawing/2014/main" id="{232D88E8-32EA-4277-A7C9-07692C13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6A1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A1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172560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2026-06-07T01:48:41.8370000Z</dcterms:created>
  <dcterms:modified xsi:type="dcterms:W3CDTF">2026-06-07T01:48:41.8370000Z</dcterms:modified>
</coreProperties>
</file>