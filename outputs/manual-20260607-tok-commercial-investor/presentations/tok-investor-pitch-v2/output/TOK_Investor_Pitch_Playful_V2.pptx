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a170c5198e4f67" /><Relationship Type="http://schemas.openxmlformats.org/officeDocument/2006/relationships/extended-properties" Target="/docProps/app.xml" Id="R8b6748c8f3b24c1a" /><Relationship Type="http://schemas.openxmlformats.org/officeDocument/2006/relationships/officeDocument" Target="/ppt/presentation.xml" Id="Rea0471e55e83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f23051bdc444b1"/>
  </p:sldMasterIdLst>
  <p:notesMasterIdLst>
    <p:notesMasterId xmlns:r="http://schemas.openxmlformats.org/officeDocument/2006/relationships" r:id="R63b893c881d74321"/>
  </p:notesMasterIdLst>
  <p:sldIdLst>
    <p:sldId xmlns:r="http://schemas.openxmlformats.org/officeDocument/2006/relationships" id="256" r:id="Re8d3b2f813d14291"/>
    <p:sldId xmlns:r="http://schemas.openxmlformats.org/officeDocument/2006/relationships" id="257" r:id="R54bdcd983f9a4faf"/>
    <p:sldId xmlns:r="http://schemas.openxmlformats.org/officeDocument/2006/relationships" id="258" r:id="R3322ad65a6d745fc"/>
    <p:sldId xmlns:r="http://schemas.openxmlformats.org/officeDocument/2006/relationships" id="259" r:id="R2d032a1827624792"/>
    <p:sldId xmlns:r="http://schemas.openxmlformats.org/officeDocument/2006/relationships" id="260" r:id="R223479d5d92b4a7b"/>
    <p:sldId xmlns:r="http://schemas.openxmlformats.org/officeDocument/2006/relationships" id="261" r:id="R40cceb95418e442c"/>
    <p:sldId xmlns:r="http://schemas.openxmlformats.org/officeDocument/2006/relationships" id="262" r:id="R28d787f550ad4d2b"/>
    <p:sldId xmlns:r="http://schemas.openxmlformats.org/officeDocument/2006/relationships" id="263" r:id="Rb92e9c1ec6ce40f2"/>
    <p:sldId xmlns:r="http://schemas.openxmlformats.org/officeDocument/2006/relationships" id="264" r:id="Re6e7df67ca714db8"/>
    <p:sldId xmlns:r="http://schemas.openxmlformats.org/officeDocument/2006/relationships" id="265" r:id="R54a9f8dc9fe94c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69438e13be4b98" /><Relationship Type="http://schemas.openxmlformats.org/officeDocument/2006/relationships/slideMaster" Target="/ppt/slideMasters/slideMaster1.xml" Id="R6ff23051bdc444b1" /><Relationship Type="http://schemas.openxmlformats.org/officeDocument/2006/relationships/notesMaster" Target="/ppt/notesMasters/notesMaster1.xml" Id="R63b893c881d74321" /><Relationship Type="http://schemas.openxmlformats.org/officeDocument/2006/relationships/presProps" Target="/ppt/presProps.xml" Id="R66ab3bd1acbc4f7a" /><Relationship Type="http://schemas.openxmlformats.org/officeDocument/2006/relationships/viewProps" Target="/ppt/viewProps.xml" Id="R713edb908e554e61" /><Relationship Type="http://schemas.openxmlformats.org/officeDocument/2006/relationships/tableStyles" Target="/ppt/tableStyles.xml" Id="Rc7318ea2b8a646ae" /><Relationship Type="http://schemas.openxmlformats.org/officeDocument/2006/relationships/slide" Target="/ppt/slides/slide1.xml" Id="Re8d3b2f813d14291" /><Relationship Type="http://schemas.openxmlformats.org/officeDocument/2006/relationships/slide" Target="/ppt/slides/slide2.xml" Id="R54bdcd983f9a4faf" /><Relationship Type="http://schemas.openxmlformats.org/officeDocument/2006/relationships/slide" Target="/ppt/slides/slide3.xml" Id="R3322ad65a6d745fc" /><Relationship Type="http://schemas.openxmlformats.org/officeDocument/2006/relationships/slide" Target="/ppt/slides/slide4.xml" Id="R2d032a1827624792" /><Relationship Type="http://schemas.openxmlformats.org/officeDocument/2006/relationships/slide" Target="/ppt/slides/slide5.xml" Id="R223479d5d92b4a7b" /><Relationship Type="http://schemas.openxmlformats.org/officeDocument/2006/relationships/slide" Target="/ppt/slides/slide6.xml" Id="R40cceb95418e442c" /><Relationship Type="http://schemas.openxmlformats.org/officeDocument/2006/relationships/slide" Target="/ppt/slides/slide7.xml" Id="R28d787f550ad4d2b" /><Relationship Type="http://schemas.openxmlformats.org/officeDocument/2006/relationships/slide" Target="/ppt/slides/slide8.xml" Id="Rb92e9c1ec6ce40f2" /><Relationship Type="http://schemas.openxmlformats.org/officeDocument/2006/relationships/slide" Target="/ppt/slides/slide9.xml" Id="Re6e7df67ca714db8" /><Relationship Type="http://schemas.openxmlformats.org/officeDocument/2006/relationships/slide" Target="/ppt/slides/slide10.xml" Id="R54a9f8dc9fe9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2e5b911ced43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a646c79274873" /><Relationship Type="http://schemas.openxmlformats.org/officeDocument/2006/relationships/notesMaster" Target="/ppt/notesMasters/notesMaster1.xml" Id="R1ccdd86147f743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d1c685de94bb7" /><Relationship Type="http://schemas.openxmlformats.org/officeDocument/2006/relationships/notesMaster" Target="/ppt/notesMasters/notesMaster1.xml" Id="R773e91fa22204f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fc5f275264ac7" /><Relationship Type="http://schemas.openxmlformats.org/officeDocument/2006/relationships/notesMaster" Target="/ppt/notesMasters/notesMaster1.xml" Id="Ra8cd7e665df7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9fcdbc73b4dad" /><Relationship Type="http://schemas.openxmlformats.org/officeDocument/2006/relationships/notesMaster" Target="/ppt/notesMasters/notesMaster1.xml" Id="Re7edeaceba7545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a6ba35c75d4af5" /><Relationship Type="http://schemas.openxmlformats.org/officeDocument/2006/relationships/notesMaster" Target="/ppt/notesMasters/notesMaster1.xml" Id="Rdce51671bb50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10e5887f1d4271" /><Relationship Type="http://schemas.openxmlformats.org/officeDocument/2006/relationships/notesMaster" Target="/ppt/notesMasters/notesMaster1.xml" Id="R6d7c77aa5bcd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6318e336fc47c4" /><Relationship Type="http://schemas.openxmlformats.org/officeDocument/2006/relationships/notesMaster" Target="/ppt/notesMasters/notesMaster1.xml" Id="Re2d05dbd373046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b6b897d774438" /><Relationship Type="http://schemas.openxmlformats.org/officeDocument/2006/relationships/notesMaster" Target="/ppt/notesMasters/notesMaster1.xml" Id="R567fe7ec458447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e0139b3f4f4829" /><Relationship Type="http://schemas.openxmlformats.org/officeDocument/2006/relationships/notesMaster" Target="/ppt/notesMasters/notesMaster1.xml" Id="R45740b74111547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9253a278784a90" /><Relationship Type="http://schemas.openxmlformats.org/officeDocument/2006/relationships/notesMaster" Target="/ppt/notesMasters/notesMaster1.xml" Id="R3919e6256c23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88cf8a916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614bbed3b4427" /><Relationship Type="http://schemas.openxmlformats.org/officeDocument/2006/relationships/slideLayout" Target="/ppt/slideLayouts/slideLayout1.xml" Id="R61f89ccfb66e43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89ccfb66e43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acc88ea114fa0" /><Relationship Type="http://schemas.openxmlformats.org/officeDocument/2006/relationships/image" Target="/ppt/media/image.png" Id="Rb6491fd32883472d" /><Relationship Type="http://schemas.openxmlformats.org/officeDocument/2006/relationships/image" Target="/ppt/media/image2.png" Id="Rb6dcaf1b63394c2d" /><Relationship Type="http://schemas.openxmlformats.org/officeDocument/2006/relationships/notesSlide" Target="/ppt/notesSlides/notesSlide1.xml" Id="R6402ba08f40e4c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9d4244a0f4766" /><Relationship Type="http://schemas.openxmlformats.org/officeDocument/2006/relationships/notesSlide" Target="/ppt/notesSlides/notesSlide2.xml" Id="R54ec7784dec14e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bf0d881344e87" /><Relationship Type="http://schemas.openxmlformats.org/officeDocument/2006/relationships/notesSlide" Target="/ppt/notesSlides/notesSlide3.xml" Id="R190f852f4328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3dbb468574bd7" /><Relationship Type="http://schemas.openxmlformats.org/officeDocument/2006/relationships/notesSlide" Target="/ppt/notesSlides/notesSlide4.xml" Id="R250d3394e8a34e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c44a551fc4543" /><Relationship Type="http://schemas.openxmlformats.org/officeDocument/2006/relationships/image" Target="/ppt/media/image3.png" Id="R3628cfff34c84dac" /><Relationship Type="http://schemas.openxmlformats.org/officeDocument/2006/relationships/notesSlide" Target="/ppt/notesSlides/notesSlide5.xml" Id="Re2107b96846a42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b94614d54d59" /><Relationship Type="http://schemas.openxmlformats.org/officeDocument/2006/relationships/notesSlide" Target="/ppt/notesSlides/notesSlide6.xml" Id="R29ee76d87cd1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5349bf73843cf" /><Relationship Type="http://schemas.openxmlformats.org/officeDocument/2006/relationships/notesSlide" Target="/ppt/notesSlides/notesSlide7.xml" Id="R65c224356e4242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0ac2b69274fcb" /><Relationship Type="http://schemas.openxmlformats.org/officeDocument/2006/relationships/image" Target="/ppt/media/image4.png" Id="R6794fdce773e444b" /><Relationship Type="http://schemas.openxmlformats.org/officeDocument/2006/relationships/notesSlide" Target="/ppt/notesSlides/notesSlide8.xml" Id="R84f490140a164f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dc3360b2e43cc" /><Relationship Type="http://schemas.openxmlformats.org/officeDocument/2006/relationships/notesSlide" Target="/ppt/notesSlides/notesSlide9.xml" Id="Re3782d350dcb48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d052a3a854a8f" /><Relationship Type="http://schemas.openxmlformats.org/officeDocument/2006/relationships/image" Target="/ppt/media/image5.png" Id="R679433f1ff084fab" /><Relationship Type="http://schemas.openxmlformats.org/officeDocument/2006/relationships/notesSlide" Target="/ppt/notesSlides/notesSlide10.xml" Id="Rbb67cbb3388944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C9D97-A808-4149-99C6-A63448DC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6F99F-F08F-4EDE-9EB5-D9D5B47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770F0-466E-464E-98F9-88FE3EDE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68282-391C-4ABF-9C40-843437FD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42125-DFDC-4623-8228-3D7EA571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C4980-6C71-4C95-83E4-F5E7CAF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"/>
            <a:ext cx="12192000" cy="669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91fd32883472d"/>
          <a:stretch xmlns:a="http://schemas.openxmlformats.org/drawingml/2006/main"/>
        </p:blipFill>
        <p:spPr>
          <a:xfrm xmlns:a="http://schemas.openxmlformats.org/drawingml/2006/main">
            <a:off x="7747000" y="914400"/>
            <a:ext cx="3175000" cy="47625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caf1b63394c2d"/>
          <a:stretch xmlns:a="http://schemas.openxmlformats.org/drawingml/2006/main"/>
        </p:blipFill>
        <p:spPr>
          <a:xfrm xmlns:a="http://schemas.openxmlformats.org/drawingml/2006/main">
            <a:off x="533400" y="4572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AA414-8ED6-4176-BB23-E9A539E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77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B2C66-23DB-47BA-B53F-913F5F17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PITCH INVESTISSEUR - VERSION DIGEST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99E5D-1266-430E-98FA-DD871CD4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 bonne table,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pas la blabla.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0F645-9766-4440-B328-6551D48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581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DE7F5"/>
                </a:solidFill>
                <a:latin typeface="Aptos"/>
                <a:ea typeface="Aptos"/>
                <a:cs typeface="Aptos"/>
              </a:rPr>
              <a:t>TOK remet la marge, les réservations et la relation client dans les mains du restaurateur.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E590C-C714-4D3A-A018-166D2B5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212AE-E52D-4858-9313-6432559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Genève d'abord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F266-B744-4629-AA29-4D22268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A64AD-CCA2-4D67-B055-64CE7919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5 CHF/table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4BD18-45BF-4ED3-B4E0-91F63A4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57675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7158A-731B-4771-BF91-9AB32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Restaurant-first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94DBC-ABC3-452F-A167-27F0185C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FF6A1A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AB051-669A-4180-9B3E-7F0E9F48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16A87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 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23589-EBBF-4084-BD62-618E21AC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22A3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control</a:t>
            </a:r>
          </a:p>
        </p:txBody>
      </p:sp>
      <p:sp>
        <p:nvSpPr>
          <p:cNvPr id="22" name="footer-1">
            <a:extLst xmlns:a="http://schemas.openxmlformats.org/drawingml/2006/main">
              <a:ext uri="{FF2B5EF4-FFF2-40B4-BE49-F238E27FC236}">
                <a16:creationId xmlns:a16="http://schemas.microsoft.com/office/drawing/2014/main" id="{A6F778D5-0292-44AF-B51C-47E9421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assets TOK locaux; chiffres traction à compléter.</a:t>
            </a:r>
          </a:p>
        </p:txBody>
      </p:sp>
      <p:sp>
        <p:nvSpPr>
          <p:cNvPr id="23" name="page-1">
            <a:extLst xmlns:a="http://schemas.openxmlformats.org/drawingml/2006/main">
              <a:ext uri="{FF2B5EF4-FFF2-40B4-BE49-F238E27FC236}">
                <a16:creationId xmlns:a16="http://schemas.microsoft.com/office/drawing/2014/main" id="{2398D97F-0EAC-4D55-A9FC-5CDDEFD6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75431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2ADF4-3B39-4CCC-BC16-AC06243F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57618-B886-49E4-8DD8-D9E6585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3DDA5-CEEE-482A-95BB-2D2E7D6E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B87AB-2219-49EF-A9E6-956A024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4A05D-EBE0-400F-BE1D-7E046C80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924CE-EAB2-460B-9B75-645B0929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A1ECB-A115-4393-B61A-BB04493C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LE PROBLÈME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98B12-7C75-4B42-A156-D3B9664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14375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D0BA5-EA76-4ABF-9C8B-04EEA14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667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Pas une app de plus.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307F0-0B98-4144-B322-FCD3D66F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Le restaurateur veut une salle qui tourne.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1F745-465F-4FF5-894E-43B448B5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1314B"/>
                </a:solidFill>
                <a:latin typeface="Aptos"/>
                <a:ea typeface="Aptos"/>
                <a:cs typeface="Aptos"/>
              </a:rPr>
              <a:t>Les plateformes apportent parfois du volume, mais laissent souvent trois additions salées.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4149B-A51B-4D8A-977A-E7F71CA5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819B1-DEA5-4367-88BA-93EB950D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FD68C-15B6-46EF-83D7-6FF3D45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0C58F-3D57-4437-8669-E2C1FFE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Commissions, remises et coûts marketing mangent le résultat.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DD062-91A2-4791-9F97-72AEBEF7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87DF6-3FE9-498D-81E2-36CD1936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C3F0E-1A50-47C1-8D4D-88F24FC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4C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4C79"/>
                </a:solidFill>
                <a:latin typeface="Aptos"/>
                <a:ea typeface="Aptos"/>
                <a:cs typeface="Aptos"/>
              </a:rPr>
              <a:t>RELATION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E936E-A1EC-4733-BADC-BD62DF7F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195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La donnée, la fidélité et la récurrence restent captées ailleurs.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4ECF2-B51D-4B01-A60E-D0FAA17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8F6DF-DD9F-4985-99E2-BE03852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F46D0-41C8-4FC6-9BA2-E7189DBA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5E923-F291-4E55-B54F-9C07C07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195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Réservations, offres, factures et support vivent dans trop d'outils.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8AB65-0F66-42C9-BF62-B4AA0BE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Le vrai concurrent, c'est le service du midi vide plus le dashboard jamais ouvert.</a:t>
            </a:r>
          </a:p>
        </p:txBody>
      </p:sp>
      <p:sp>
        <p:nvSpPr>
          <p:cNvPr id="25" name="footer-2">
            <a:extLst xmlns:a="http://schemas.openxmlformats.org/drawingml/2006/main">
              <a:ext uri="{FF2B5EF4-FFF2-40B4-BE49-F238E27FC236}">
                <a16:creationId xmlns:a16="http://schemas.microsoft.com/office/drawing/2014/main" id="{E92BE83F-432F-4D76-A490-EB3FF6B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positionnement TOK local, audits produit et parcours restaurateur.</a:t>
            </a:r>
          </a:p>
        </p:txBody>
      </p:sp>
      <p:sp>
        <p:nvSpPr>
          <p:cNvPr id="26" name="page-2">
            <a:extLst xmlns:a="http://schemas.openxmlformats.org/drawingml/2006/main">
              <a:ext uri="{FF2B5EF4-FFF2-40B4-BE49-F238E27FC236}">
                <a16:creationId xmlns:a16="http://schemas.microsoft.com/office/drawing/2014/main" id="{E63634D3-0F10-4BFF-9927-09F7750E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17201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86208-E4E0-4BC9-A18D-BD1B9E6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27A68-996E-48DB-8754-6D996AA1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515CD-F578-400E-8776-FCD8BC4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95262-EB36-43C5-A785-A5073EB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576BC-134B-4734-BEF4-27B94BCB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8A495-4C00-43BB-A6E6-B338370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D589B-115C-4F51-BC19-E47EB46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LA 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788F5-0ED7-4232-A4B5-DB9AD33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609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Quatre surfaces.</a:t>
            </a:r>
          </a:p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Une même cuisine.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DDC0C-9EDB-419F-811C-00089FF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TOK relie acquisition client, exécution restaurant, livraison et contrôle admin pour éviter les silos.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275E8-58E1-4B09-B11B-25FF5CF0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343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AC060-21CC-4080-A938-685483CD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AF66C-AC3F-49DA-8687-AD4FBD5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CLIENT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3BE3B-94C0-4C4D-9387-DDF69C0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Recherche, panier, réservation, offres, Tok 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A49EB-A259-4528-8F57-CF5A716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343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ECCF1-9C5A-463E-8FDC-CFA969B6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58585-32FD-4B6D-9BAE-3F09D47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86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8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874"/>
                </a:solidFill>
                <a:latin typeface="Aptos"/>
                <a:ea typeface="Aptos"/>
                <a:cs typeface="Aptos"/>
              </a:rPr>
              <a:t>RESTAURANT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D7464-D9DE-4CDA-9A52-FA6E363C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Menu, photos, campagnes, service, factures.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4F6E0-0510-49E9-9538-606BE9B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2343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2663D-4ABD-467E-A23E-BC1C824D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6EC0C-6F4C-48C8-912E-45B040AE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COURIER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84062-84DA-49C2-A9C4-C6F0FE7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Jobs, profil, revenus, suivi de livraison.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92802-7A2C-415C-8A4D-094BA773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2343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22BC4-1847-4CBD-B51C-D48FF313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BD082-182D-4696-AFF8-0D746792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86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02A"/>
                </a:solidFill>
                <a:latin typeface="Aptos"/>
                <a:ea typeface="Aptos"/>
                <a:cs typeface="Aptos"/>
              </a:rPr>
              <a:t>ADMIN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D8877-52E8-42D7-BAE2-B93A262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Utilisateurs, flags, audit, opérations, compta.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6AA9D5-BDCE-47F6-9A3D-D4FEDBCC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Même donnée métier. Même réflexe local. Même garde-fou.</a:t>
            </a:r>
          </a:p>
        </p:txBody>
      </p:sp>
      <p:sp>
        <p:nvSpPr>
          <p:cNvPr id="27" name="footer-3">
            <a:extLst xmlns:a="http://schemas.openxmlformats.org/drawingml/2006/main">
              <a:ext uri="{FF2B5EF4-FFF2-40B4-BE49-F238E27FC236}">
                <a16:creationId xmlns:a16="http://schemas.microsoft.com/office/drawing/2014/main" id="{62C9D7AF-2332-4696-A188-36278BA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src/App.tsx, feature catalog, modules client/dashboard/courier/admin.</a:t>
            </a:r>
          </a:p>
        </p:txBody>
      </p:sp>
      <p:sp>
        <p:nvSpPr>
          <p:cNvPr id="28" name="page-3">
            <a:extLst xmlns:a="http://schemas.openxmlformats.org/drawingml/2006/main">
              <a:ext uri="{FF2B5EF4-FFF2-40B4-BE49-F238E27FC236}">
                <a16:creationId xmlns:a16="http://schemas.microsoft.com/office/drawing/2014/main" id="{B2109281-26EC-4835-AB0C-458582A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23325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96BDF-6AC4-4238-B275-8B39C4F6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4CDE7-A1C0-4AA4-852C-A046FF1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70669-3AEF-43D2-8814-2886C2FF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1D07F-75CB-4252-BA9D-AF1B375A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58D05-9702-40A9-9E36-F8DAB3B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705C3-30FE-478A-8CB3-D6384A6A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82234-3C72-4375-A23F-9F20D4C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WEDGE GENÈVE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4B1E0-97D7-4A46-AFC5-AC56CDD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1437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6C08E-73E4-4074-85C1-3DE15B1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6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Petit territoire.</a:t>
            </a:r>
          </a:p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Grosse densité.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0313D-33E3-4422-BDD8-2893DD14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695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On commence là où le service se voit.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17FD3-22EE-42CD-BE4B-19456801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Genève donne un terrain lisible : densité urbaine, marché international, restauration visible et besoin de canaux locaux plus directs.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A6C9E-5EC2-4652-AFDE-DC123AF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1FB6A-A534-4E62-954C-E28643D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537'191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B846C-39CE-4C37-8B45-7334BDF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habitants dans le canton de Genève à fin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49B34-2CD5-47E3-8029-5A241B62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04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99ECF-7B80-49DD-899D-64EE8ED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A3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2A3FF"/>
                </a:solidFill>
                <a:latin typeface="Georgia"/>
                <a:ea typeface="Georgia"/>
                <a:cs typeface="Georgia"/>
              </a:rPr>
              <a:t>9.05M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C9223-94B1-4CBE-A8E8-35B34D3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29050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résidents permanents en Suisse à fin 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A3EE6-77A4-448E-BD6F-5A6D1AE7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43256-CA34-46D2-8E87-56F60AAF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874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6A874"/>
                </a:solidFill>
                <a:latin typeface="Georgia"/>
                <a:ea typeface="Georgia"/>
                <a:cs typeface="Georgia"/>
              </a:rPr>
              <a:t>NOGA 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D5F0F-D46E-4167-8CC5-01522DF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restaurants, take-away, boissons et consommation immédiate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D04F2-6EA9-4345-9C5E-5481C425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74501-444D-495B-A7F1-355ED2D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09484-7468-4E2D-81C7-1E831B3C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81400"/>
            <a:ext cx="95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Wedge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A2608-AE37-4165-B064-4772ECD3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Prouver la méthode restaurant par restaurant avant Lausanne, Fribourg, Neuchâtel puis Suisse romande.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DFEC8E9F-D9F2-46B5-831B-B8E94483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OCSTAT Genève 2025; FSO/geo.admin 2024; KUBB NOGA 2025.</a:t>
            </a:r>
          </a:p>
        </p:txBody>
      </p: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CB02BC79-DD1D-4C39-946D-93B491C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29368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5E8FC-69CF-4BC0-8D5E-73E00C92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C45A1-AFD1-4A5A-A587-CDBE5BE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1E189-0151-4496-B6EF-78135C32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555B6-F020-4957-B34B-5CD0CA4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538B5-1615-4DA1-AA13-BFE3AA4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8cfff34c84dac"/>
          <a:stretch xmlns:a="http://schemas.openxmlformats.org/drawingml/2006/main"/>
        </p:blipFill>
        <p:spPr>
          <a:xfrm xmlns:a="http://schemas.openxmlformats.org/drawingml/2006/main">
            <a:off x="8475847" y="1123950"/>
            <a:ext cx="1945906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49508-6B6A-4F6E-ADFD-FD143B97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6BA3C-FC0F-417B-9522-2AEA3F3A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PRODUIT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7146B-512F-4792-943C-CC53EDA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90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dashboard,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c'est l'anti post-it.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50CFB-B09F-450A-9F59-F76053CD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DE7F5"/>
                </a:solidFill>
                <a:latin typeface="Aptos"/>
                <a:ea typeface="Aptos"/>
                <a:cs typeface="Aptos"/>
              </a:rPr>
              <a:t>Chaque module doit aider le restaurateur à présenter, vendre, exécuter ou piloter.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D8981-1652-4FFC-86E5-455CE0AC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2EC12-C34A-4B7A-8F2B-A25C986F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25CFA-2A0C-4777-A389-EA28A38F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PRÉSENTER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7A31C-668D-45F9-964C-EA84BA5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Profil, menu, photos, formules.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0FEC9-4862-4486-8BE9-BCD34A2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DBFB4-D696-4BCC-B82A-EEA96DB9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D6F7B-12E3-42A4-8723-84314ECE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90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8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874"/>
                </a:solidFill>
                <a:latin typeface="Aptos"/>
                <a:ea typeface="Aptos"/>
                <a:cs typeface="Aptos"/>
              </a:rPr>
              <a:t>VENDRE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BBEE1-D327-410E-BE81-E74972F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Offres, anti-gaspi, campagnes.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AB963-FC50-4301-96F1-0F70EEAB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5B1EC-6F12-4216-9941-00C86E7F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F77A8-F795-4D13-ACE4-4D50B102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EXÉCUTER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80CF1-D0FA-42B4-B1B2-2F0CA0CC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957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Commandes, service, réservations.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C7D49-8ACA-4046-821F-7A63774D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D1A91-E625-4774-A565-B64458D0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Moins de friction.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F2C19-5577-48CE-952D-7DA6448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387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15E29-3701-4913-9190-8ACEA516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Plus de service.</a:t>
            </a:r>
          </a:p>
        </p:txBody>
      </p:sp>
      <p:sp>
        <p:nvSpPr>
          <p:cNvPr id="27" name="footer-5">
            <a:extLst xmlns:a="http://schemas.openxmlformats.org/drawingml/2006/main">
              <a:ext uri="{FF2B5EF4-FFF2-40B4-BE49-F238E27FC236}">
                <a16:creationId xmlns:a16="http://schemas.microsoft.com/office/drawing/2014/main" id="{C08F94B2-3559-4D7E-9FCF-B9BE2D7E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dashboard routes, feature flags et assets app locaux.</a:t>
            </a:r>
          </a:p>
        </p:txBody>
      </p:sp>
      <p:sp>
        <p:nvSpPr>
          <p:cNvPr id="28" name="page-5">
            <a:extLst xmlns:a="http://schemas.openxmlformats.org/drawingml/2006/main">
              <a:ext uri="{FF2B5EF4-FFF2-40B4-BE49-F238E27FC236}">
                <a16:creationId xmlns:a16="http://schemas.microsoft.com/office/drawing/2014/main" id="{6CABBBD5-C95F-46A1-A8BF-5FE81E8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17554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0A826-71E4-4E10-B169-116E4ADD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4FBA9-F212-4B4C-8C70-7B3684AA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D3BB3-3A00-458E-B6B6-068789D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9D51-BC0C-429B-AD68-BFADD015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8DCF5-120E-4792-85D8-01935209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71EA1-A8A4-4996-8805-50C6187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264E8-C6FD-41D0-9C56-ED351876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683BE-8238-4FAB-9D61-DAAC3A02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619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Du coup de fil</a:t>
            </a:r>
          </a:p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au service plein.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ED609-876E-4D8C-B51A-9544ECC8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Le moteur commercial doit rester aussi simple qu'un service bien préparé : une étape, une preuve, une suite.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40074-42BF-4656-A280-F0D34837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584DC-CC45-4378-B87E-66042B6C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DD3EE-BD23-400E-B605-EEC182B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1.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70BBC-A020-4F95-952F-49D98F2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Restaurant ciblé par quartier, type et douleur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C1953-F602-4CD1-B069-D2725A3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860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0291F-77B0-4641-897C-CD5E0ED5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2755A-38F5-4677-9BD8-211E003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B37C9-D0F9-4DF3-8CE7-36CF2BA2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2. DÉMO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D7CE3-5137-4784-BA60-DD2F062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Simulateur, pack, dashboard et prochain créneau.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32EDB-31EA-4AFD-972C-F3A56CBF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3860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72E81-C9E4-4595-AE7C-7C2D9BD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E363F-353A-4D95-A7FE-26EE8F65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94C78-19AD-478D-8260-7753D597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02A"/>
                </a:solidFill>
                <a:latin typeface="Aptos"/>
                <a:ea typeface="Aptos"/>
                <a:cs typeface="Aptos"/>
              </a:rPr>
              <a:t>3. SIGNATURE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96229-84AC-4CF9-AB85-1309F64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Pack juste, pas buffet complet au premier rendez-vous.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0A4A4-F419-4481-93B1-55740E9D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40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1325A-305C-4155-A53A-C6B72472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5BC58-E927-4857-8982-B56CEF73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34908-D0D8-49BB-9931-D24A2CE7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8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874"/>
                </a:solidFill>
                <a:latin typeface="Aptos"/>
                <a:ea typeface="Aptos"/>
                <a:cs typeface="Aptos"/>
              </a:rPr>
              <a:t>4. ACTIVATION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0BF8A-0E54-4D2C-B1C7-96EDA0CE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Menu publié, offre live, premières tables suivies.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31B0A-E115-4021-BE5D-153504CE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Objectif interne : 10 restaurants signés / mois / commercial. Commission de référence : 7 %, plafond 12 %.</a:t>
            </a:r>
          </a:p>
        </p:txBody>
      </p:sp>
      <p:sp>
        <p:nvSpPr>
          <p:cNvPr id="30" name="footer-6">
            <a:extLst xmlns:a="http://schemas.openxmlformats.org/drawingml/2006/main">
              <a:ext uri="{FF2B5EF4-FFF2-40B4-BE49-F238E27FC236}">
                <a16:creationId xmlns:a16="http://schemas.microsoft.com/office/drawing/2014/main" id="{7ECB29A6-FE2E-4125-9EC5-340C5BC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20260607033000_platform_finance_sales_governance.sql.</a:t>
            </a:r>
          </a:p>
        </p:txBody>
      </p:sp>
      <p:sp>
        <p:nvSpPr>
          <p:cNvPr id="31" name="page-6">
            <a:extLst xmlns:a="http://schemas.openxmlformats.org/drawingml/2006/main">
              <a:ext uri="{FF2B5EF4-FFF2-40B4-BE49-F238E27FC236}">
                <a16:creationId xmlns:a16="http://schemas.microsoft.com/office/drawing/2014/main" id="{6C1AD05A-F1CB-4D17-B8E5-2D0BB380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29610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009DA-9AC4-451B-AE05-5D066B9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48636-74F6-4E04-9759-6BD1F7FF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AFEB6-4388-4B62-83B5-9424507C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CED19-4511-4832-A9C9-90658DD6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0C2E0-1FBD-4B1C-93B4-3A4ACA72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4683D-48E2-42D7-A67B-D4E7DC8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4C287-468A-4F96-B386-624DF09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MONÉTISATION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3B98C-FB72-431E-9208-F315D9C8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619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La valeur commence</a:t>
            </a:r>
          </a:p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à l'activation.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6B650-9DD6-4EA2-9E29-9579182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TOK évite de dépendre d'une seule commission. Le revenu se construit par installation, usage et campagnes mesurées.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97E9F-E7D7-43EA-8C7E-F86FB1D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343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A9169-ACB4-42D5-A792-35FBD9C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34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2DD05-09DD-47AE-8A9E-CA73EC7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95175-CC40-4690-9059-7158E63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490 à 3'490 CHF pour lancer proprement.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C058C-B952-46E9-BF99-A872C174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2343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8531D-2340-4147-98F6-117D622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234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37066-1F16-424C-A9FA-06CBC904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8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874"/>
                </a:solidFill>
                <a:latin typeface="Aptos"/>
                <a:ea typeface="Aptos"/>
                <a:cs typeface="Aptos"/>
              </a:rPr>
              <a:t>TABLES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ED2A8-CCF9-475A-AFAB-A7EBCC5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5 CHF par réservation confirmée.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39056-D8E4-4D05-BFF7-1C4784EC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2343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2EE3C-958B-47AF-915D-D081040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234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0D61C-A3A5-4F1F-8360-972EBC72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CAMPAGNES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1EB56-E0D6-4FFA-B7F3-862DE4A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CPM, CPC ou CPA selon l'objectif local.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3728E-AE1B-4B8C-BDFE-FE36148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2343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9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1E2D6-AE4A-4616-8E5D-3440CE8E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234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E4D6F7-75B7-4019-B868-6B7ACE1A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02A"/>
                </a:solidFill>
                <a:latin typeface="Aptos"/>
                <a:ea typeface="Aptos"/>
                <a:cs typeface="Aptos"/>
              </a:rPr>
              <a:t>TOK 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822E4-846E-4C59-89B3-948AA45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243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Récurrence client et avantages.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587BB-0BFE-42EA-BDC4-864312B2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Le message investisseur : vendre l'installation, prouver l'usage, puis financer la boucle locale.</a:t>
            </a:r>
          </a:p>
        </p:txBody>
      </p:sp>
      <p:sp>
        <p:nvSpPr>
          <p:cNvPr id="27" name="footer-7">
            <a:extLst xmlns:a="http://schemas.openxmlformats.org/drawingml/2006/main">
              <a:ext uri="{FF2B5EF4-FFF2-40B4-BE49-F238E27FC236}">
                <a16:creationId xmlns:a16="http://schemas.microsoft.com/office/drawing/2014/main" id="{566AC93A-7DE8-4DA6-97CA-69BE7421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launch pack migration; RestaurateursGeneve.tsx; campaign pricing docs.</a:t>
            </a:r>
          </a:p>
        </p:txBody>
      </p:sp>
      <p:sp>
        <p:nvSpPr>
          <p:cNvPr id="28" name="page-7">
            <a:extLst xmlns:a="http://schemas.openxmlformats.org/drawingml/2006/main">
              <a:ext uri="{FF2B5EF4-FFF2-40B4-BE49-F238E27FC236}">
                <a16:creationId xmlns:a16="http://schemas.microsoft.com/office/drawing/2014/main" id="{98EBA665-1ED1-4316-BB64-2D26C92F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01883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3C2E0-E68C-47F2-95FA-BBD20AC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76469-3D62-4E3C-821F-D4229FFD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84907-4191-4BC5-BFD0-1202A569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2105C-7DB4-4186-95DD-E75A8755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45030-2A98-4346-A8A6-048DD9D1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4fdce773e444b"/>
          <a:stretch xmlns:a="http://schemas.openxmlformats.org/drawingml/2006/main"/>
        </p:blipFill>
        <p:spPr>
          <a:xfrm xmlns:a="http://schemas.openxmlformats.org/drawingml/2006/main">
            <a:off x="8477250" y="2343150"/>
            <a:ext cx="20955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073A2-3AEA-4CEE-AF96-7BB091C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99D88-AC12-429B-A99C-F23E0CC9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704D9-A1E9-4B48-93EB-DA6C80DA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Signer. Publier.</a:t>
            </a:r>
          </a:p>
          <a:p xmlns:a="http://schemas.openxmlformats.org/drawingml/2006/main">
            <a:pPr algn="l">
              <a:defRPr sz="3375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Remplir. Recommencer.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D1A23-D5E2-467F-8A7D-A57746B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La ville devient défendable quand les restaurants, les clients et les opérations se renforcent dans les mêmes quartiers.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EB778-BA9E-4D0E-A43A-B2CD1C0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13D4A-ACCD-4BB2-BF2C-C259371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Signer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50C00-D3DE-4809-AF74-E488FBD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314B"/>
                </a:solidFill>
                <a:latin typeface="Aptos"/>
                <a:ea typeface="Aptos"/>
                <a:cs typeface="Aptos"/>
              </a:rPr>
              <a:t>pack + onboarding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20B07-BEA9-4030-B6B9-3FD1602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C444E-5B07-432A-999E-5080255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E5EF4-B478-4C5E-A998-94D8AF69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385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Publier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74080-0B02-4F6C-AAC8-5846403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314B"/>
                </a:solidFill>
                <a:latin typeface="Aptos"/>
                <a:ea typeface="Aptos"/>
                <a:cs typeface="Aptos"/>
              </a:rPr>
              <a:t>menu + photos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90C37-D6FD-45F9-A032-72049BAE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2850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2FF21-5B77-4A74-818F-DBB663D4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86175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76E70-55AD-455E-A1FC-1EBDA5D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Remplir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6CF64-DC64-4492-BBC4-E1F4B6AD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72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314B"/>
                </a:solidFill>
                <a:latin typeface="Aptos"/>
                <a:ea typeface="Aptos"/>
                <a:cs typeface="Aptos"/>
              </a:rPr>
              <a:t>réservation + offre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D5ED4-C56C-4796-82F2-5A00F6A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5F0DA-0184-4A61-9F22-4FB945CA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86175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4E8C8-D61B-4B21-95B7-C3FC1803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85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Mesurer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05987-07C8-466F-AD12-32D136F3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672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314B"/>
                </a:solidFill>
                <a:latin typeface="Aptos"/>
                <a:ea typeface="Aptos"/>
                <a:cs typeface="Aptos"/>
              </a:rPr>
              <a:t>avis + factures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DA349-252B-4242-BE56-DA5B0E8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26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21244-A4D0-4450-ADB9-85B2DF39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86175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CC047-EE1B-4259-BD6D-828DE499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Réinvestir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035CF-A17F-4372-9F47-3455811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314B"/>
                </a:solidFill>
                <a:latin typeface="Aptos"/>
                <a:ea typeface="Aptos"/>
                <a:cs typeface="Aptos"/>
              </a:rPr>
              <a:t>campagnes + Tok 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53EF6-E5E0-48D8-AD2B-B8D2C91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Boucle locale = plus de supply, plus de demande, plus de data, meilleures campagnes.</a:t>
            </a:r>
          </a:p>
        </p:txBody>
      </p:sp>
      <p:sp>
        <p:nvSpPr>
          <p:cNvPr id="31" name="footer-8">
            <a:extLst xmlns:a="http://schemas.openxmlformats.org/drawingml/2006/main">
              <a:ext uri="{FF2B5EF4-FFF2-40B4-BE49-F238E27FC236}">
                <a16:creationId xmlns:a16="http://schemas.microsoft.com/office/drawing/2014/main" id="{CC30DB62-E805-48CC-B25C-4CE0B801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produit TOK, feature flags, modules dashboard et client.</a:t>
            </a:r>
          </a:p>
        </p:txBody>
      </p:sp>
      <p:sp>
        <p:nvSpPr>
          <p:cNvPr id="32" name="page-8">
            <a:extLst xmlns:a="http://schemas.openxmlformats.org/drawingml/2006/main">
              <a:ext uri="{FF2B5EF4-FFF2-40B4-BE49-F238E27FC236}">
                <a16:creationId xmlns:a16="http://schemas.microsoft.com/office/drawing/2014/main" id="{5FD8C0EE-C413-43A4-895B-45D1D98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71461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7B6CE-AF4A-425D-AECF-39923B46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50FE4-C9BF-49BB-A4A7-FD5196B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7943E-6CA1-47A3-AA0D-DDCB4FE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FB238-4871-4F57-B3B1-8129DE60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EB83D-1F5E-4916-8953-3EA14C72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F65B4-A423-4645-B22F-AA182329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63A10-BC3B-4E88-87C6-8A43C71C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MATURITÉ TECHNIQUE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DE67C-8934-4E18-B73C-C2C75A9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715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31A04-9A8A-4A5A-B1FF-54A2763D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239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07142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B"/>
                </a:solidFill>
                <a:latin typeface="Aptos"/>
                <a:ea typeface="Aptos"/>
                <a:cs typeface="Aptos"/>
              </a:rPr>
              <a:t>Déjà en cuisine.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7C38A-F074-48D7-9726-AFABE604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Ce n'est pas une landing page déguisée.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C2967-68E6-416A-BBA2-04142AC1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repo montre une plateforme transactionnelle : routes, tests, migrations, Edge Functions et gouvernance de release.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B5D25-3271-4CF9-B3CD-209BF26A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8878F-7C4C-4518-919C-08C2DC7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8BC39-43A1-4604-A02F-9E28B51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routes React déclarées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F0CA2-977E-4B6A-81CA-E106B19E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2392F-3FC5-4547-A57E-B5743AEF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874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6A874"/>
                </a:solidFill>
                <a:latin typeface="Georgia"/>
                <a:ea typeface="Georgia"/>
                <a:cs typeface="Georgia"/>
              </a:rPr>
              <a:t>193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1FA0F-674C-43D3-B191-F6983E7E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fichiers de tests Vitest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A1F79-E2DA-41E7-9EB1-F611D2C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246BA-07FB-4CC7-8104-38DB084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A3F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22A3FF"/>
                </a:solidFill>
                <a:latin typeface="Georgia"/>
                <a:ea typeface="Georgia"/>
                <a:cs typeface="Georgia"/>
              </a:rPr>
              <a:t>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4BB1D-7C20-4DAF-9090-049C0A85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814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Edge Functions Supabase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4D074-3C13-4534-BE92-D760B195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C6BFD-31B3-489C-A385-FAAD5875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B02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FB02A"/>
                </a:solidFill>
                <a:latin typeface="Georgia"/>
                <a:ea typeface="Georgia"/>
                <a:cs typeface="Georgia"/>
              </a:rPr>
              <a:t>229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45749-C489-4DBA-B031-876A33C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migrations SQL locales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A62EDB-D5BB-45B5-A2F8-0439DC15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Le risque n'est pas l'absence de produit. C'est la preuve de fiabilité et de répétabilité commerciale.</a:t>
            </a:r>
          </a:p>
        </p:txBody>
      </p:sp>
      <p:sp>
        <p:nvSpPr>
          <p:cNvPr id="25" name="footer-9">
            <a:extLst xmlns:a="http://schemas.openxmlformats.org/drawingml/2006/main">
              <a:ext uri="{FF2B5EF4-FFF2-40B4-BE49-F238E27FC236}">
                <a16:creationId xmlns:a16="http://schemas.microsoft.com/office/drawing/2014/main" id="{093694D9-CE10-4664-BA1E-89C397FA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snapshot local par commandes rg/Measure-Object, 07/06/2026.</a:t>
            </a:r>
          </a:p>
        </p:txBody>
      </p:sp>
      <p:sp>
        <p:nvSpPr>
          <p:cNvPr id="26" name="page-9">
            <a:extLst xmlns:a="http://schemas.openxmlformats.org/drawingml/2006/main">
              <a:ext uri="{FF2B5EF4-FFF2-40B4-BE49-F238E27FC236}">
                <a16:creationId xmlns:a16="http://schemas.microsoft.com/office/drawing/2014/main" id="{AEBFAE2E-3BDA-4B3B-A00F-E8BF63D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528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81C11-0FF0-4592-A9A5-CCDDAC19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9A7BB-D3FF-4283-9DFB-3AC67E5A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9898E-41FC-459E-BC8B-4769F3E2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681E2-2B69-4678-9FB4-5E229BE5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520D1-7776-47F9-AC16-35814AAB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433f1ff084fab"/>
          <a:stretch xmlns:a="http://schemas.openxmlformats.org/drawingml/2006/main"/>
        </p:blipFill>
        <p:spPr>
          <a:xfrm xmlns:a="http://schemas.openxmlformats.org/drawingml/2006/main">
            <a:off x="571500" y="5143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39616-A91D-4588-A834-185A911A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77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69DD2-AC64-4285-A43A-B2E0A22B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INVESTIR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1C745-D75F-488A-AE38-07B4533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Financer le service</a:t>
            </a:r>
          </a:p>
          <a:p xmlns:a="http://schemas.openxmlformats.org/drawingml/2006/main">
            <a:pPr algn="l">
              <a:defRPr sz="345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qui tient.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15553-A2A5-40EF-9CA6-DB47ECFE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31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1314B"/>
                </a:solidFill>
                <a:latin typeface="Aptos"/>
                <a:ea typeface="Aptos"/>
                <a:cs typeface="Aptos"/>
              </a:rPr>
              <a:t>Le montant exact et les métriques de traction doivent être ajoutés par les fondateurs. La structure est prête pour une conversation seed / pre-seed.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42C7E-AEB0-4688-B656-8B14964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43863-4DBB-4281-BDEA-B15DF5D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52DDC-A7EB-4CDE-914D-D69478A3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35 %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78D69-75E7-4848-BC82-C4009651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Fiabilité paiements, commandes, tracking.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D2878-89AB-4382-9385-C3186F6A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BFF26-7E9A-46B6-B61F-0C31FCAA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B2C06-D5C0-4033-BAE2-3B7D6FCA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8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874"/>
                </a:solidFill>
                <a:latin typeface="Aptos"/>
                <a:ea typeface="Aptos"/>
                <a:cs typeface="Aptos"/>
              </a:rPr>
              <a:t>30 %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2C6FC-2613-4934-BE1B-2415DB60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GTM Genève et onboarding restaurants.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8A48E-CEC2-4F44-8BBB-EE9F9F9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291B5-1273-4637-BDC1-F49C668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3AC55-E1C7-47CD-9C03-F7DAE05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20 % + 15 %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E4FA8-F96E-4266-8827-E2F9342A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Success, contenu, support, dispatch, data et monitoring.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A944F-1150-4415-AD39-17D54024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561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6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13EC6-270D-4FFB-9ED3-531DD8CE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46F57-9BA5-460F-B1ED-D6F180D2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À COMPLÉTER AVANT ENVOI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94FE4-9D5C-461D-8D4E-3282DC60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523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142B"/>
                </a:solidFill>
                <a:latin typeface="Georgia"/>
                <a:ea typeface="Georgia"/>
                <a:cs typeface="Georgia"/>
              </a:rPr>
              <a:t>Restaurants signés, activation J+14, tables générées, revenus, marge, CAC, churn et preuves clients.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9ABB6-C976-467E-B8A9-34AA8AA1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TOK / TheTok - www.thetok.ch</a:t>
            </a:r>
          </a:p>
        </p:txBody>
      </p:sp>
      <p:sp>
        <p:nvSpPr>
          <p:cNvPr id="28" name="footer-10">
            <a:extLst xmlns:a="http://schemas.openxmlformats.org/drawingml/2006/main">
              <a:ext uri="{FF2B5EF4-FFF2-40B4-BE49-F238E27FC236}">
                <a16:creationId xmlns:a16="http://schemas.microsoft.com/office/drawing/2014/main" id="{A46D14EB-FD36-4E1D-85BC-CBC75907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repo TOK local; fundraising amount and traction to be founder-validated.</a:t>
            </a:r>
          </a:p>
        </p:txBody>
      </p:sp>
      <p:sp>
        <p:nvSpPr>
          <p:cNvPr id="29" name="page-10">
            <a:extLst xmlns:a="http://schemas.openxmlformats.org/drawingml/2006/main">
              <a:ext uri="{FF2B5EF4-FFF2-40B4-BE49-F238E27FC236}">
                <a16:creationId xmlns:a16="http://schemas.microsoft.com/office/drawing/2014/main" id="{46C6D757-90DE-4990-8C04-176EFF75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9514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2026-06-07T02:34:11.6820000Z</dcterms:created>
  <dcterms:modified xsi:type="dcterms:W3CDTF">2026-06-07T02:34:11.6820000Z</dcterms:modified>
</coreProperties>
</file>