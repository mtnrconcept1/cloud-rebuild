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26dc0eeff4fa9" /><Relationship Type="http://schemas.openxmlformats.org/officeDocument/2006/relationships/extended-properties" Target="/docProps/app.xml" Id="R0e82ceb9c7e34e13" /><Relationship Type="http://schemas.openxmlformats.org/officeDocument/2006/relationships/officeDocument" Target="/ppt/presentation.xml" Id="R385abb55e11645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4923f6c0964395"/>
  </p:sldMasterIdLst>
  <p:notesMasterIdLst>
    <p:notesMasterId xmlns:r="http://schemas.openxmlformats.org/officeDocument/2006/relationships" r:id="R0d56e02ad2e74d04"/>
  </p:notesMasterIdLst>
  <p:sldIdLst>
    <p:sldId xmlns:r="http://schemas.openxmlformats.org/officeDocument/2006/relationships" id="256" r:id="R28645a89a6b04af9"/>
    <p:sldId xmlns:r="http://schemas.openxmlformats.org/officeDocument/2006/relationships" id="257" r:id="R473abbb8ff534c2e"/>
    <p:sldId xmlns:r="http://schemas.openxmlformats.org/officeDocument/2006/relationships" id="258" r:id="Reebaefbee1114c6e"/>
    <p:sldId xmlns:r="http://schemas.openxmlformats.org/officeDocument/2006/relationships" id="259" r:id="Rcb1ae0de2aae4c33"/>
    <p:sldId xmlns:r="http://schemas.openxmlformats.org/officeDocument/2006/relationships" id="260" r:id="R6d92dc0b6ad640b7"/>
    <p:sldId xmlns:r="http://schemas.openxmlformats.org/officeDocument/2006/relationships" id="261" r:id="R72f83c6285764060"/>
    <p:sldId xmlns:r="http://schemas.openxmlformats.org/officeDocument/2006/relationships" id="262" r:id="Rcad6703354c44955"/>
    <p:sldId xmlns:r="http://schemas.openxmlformats.org/officeDocument/2006/relationships" id="263" r:id="R75f6397ab2494040"/>
    <p:sldId xmlns:r="http://schemas.openxmlformats.org/officeDocument/2006/relationships" id="264" r:id="Rc021dead89614c85"/>
    <p:sldId xmlns:r="http://schemas.openxmlformats.org/officeDocument/2006/relationships" id="265" r:id="Rfb1b3a7369b5454b"/>
    <p:sldId xmlns:r="http://schemas.openxmlformats.org/officeDocument/2006/relationships" id="266" r:id="Recd725f9970b462c"/>
    <p:sldId xmlns:r="http://schemas.openxmlformats.org/officeDocument/2006/relationships" id="267" r:id="R39cfd36928064ad4"/>
    <p:sldId xmlns:r="http://schemas.openxmlformats.org/officeDocument/2006/relationships" id="268" r:id="R84984f0005b247c8"/>
    <p:sldId xmlns:r="http://schemas.openxmlformats.org/officeDocument/2006/relationships" id="269" r:id="R8c069c77cf2d4a75"/>
    <p:sldId xmlns:r="http://schemas.openxmlformats.org/officeDocument/2006/relationships" id="270" r:id="R44e15793bfab4772"/>
    <p:sldId xmlns:r="http://schemas.openxmlformats.org/officeDocument/2006/relationships" id="271" r:id="R6dc880fc783a4bc9"/>
    <p:sldId xmlns:r="http://schemas.openxmlformats.org/officeDocument/2006/relationships" id="272" r:id="R02f8a56512f04c99"/>
    <p:sldId xmlns:r="http://schemas.openxmlformats.org/officeDocument/2006/relationships" id="273" r:id="Rb037af875af6443c"/>
    <p:sldId xmlns:r="http://schemas.openxmlformats.org/officeDocument/2006/relationships" id="274" r:id="Rd16dfb30cc6a425a"/>
    <p:sldId xmlns:r="http://schemas.openxmlformats.org/officeDocument/2006/relationships" id="275" r:id="R50a689e0386347cf"/>
    <p:sldId xmlns:r="http://schemas.openxmlformats.org/officeDocument/2006/relationships" id="276" r:id="R39707fd9591a4c31"/>
    <p:sldId xmlns:r="http://schemas.openxmlformats.org/officeDocument/2006/relationships" id="277" r:id="Rc484b0c6f76b4292"/>
    <p:sldId xmlns:r="http://schemas.openxmlformats.org/officeDocument/2006/relationships" id="278" r:id="R6b2957f93e0347b0"/>
    <p:sldId xmlns:r="http://schemas.openxmlformats.org/officeDocument/2006/relationships" id="279" r:id="R056c3036fffe44e7"/>
    <p:sldId xmlns:r="http://schemas.openxmlformats.org/officeDocument/2006/relationships" id="280" r:id="R2e3a18c620064ce3"/>
    <p:sldId xmlns:r="http://schemas.openxmlformats.org/officeDocument/2006/relationships" id="281" r:id="R69dd982aa02741af"/>
    <p:sldId xmlns:r="http://schemas.openxmlformats.org/officeDocument/2006/relationships" id="282" r:id="Rfc8285e763594ef8"/>
    <p:sldId xmlns:r="http://schemas.openxmlformats.org/officeDocument/2006/relationships" id="283" r:id="Ra6f9877d462d47a3"/>
    <p:sldId xmlns:r="http://schemas.openxmlformats.org/officeDocument/2006/relationships" id="284" r:id="Rdc404a570abb45af"/>
    <p:sldId xmlns:r="http://schemas.openxmlformats.org/officeDocument/2006/relationships" id="285" r:id="R1e9650027b7d416f"/>
    <p:sldId xmlns:r="http://schemas.openxmlformats.org/officeDocument/2006/relationships" id="286" r:id="R0d0e59d288e24d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be664ffe214aca" /><Relationship Type="http://schemas.openxmlformats.org/officeDocument/2006/relationships/slideMaster" Target="/ppt/slideMasters/slideMaster1.xml" Id="R054923f6c0964395" /><Relationship Type="http://schemas.openxmlformats.org/officeDocument/2006/relationships/notesMaster" Target="/ppt/notesMasters/notesMaster1.xml" Id="R0d56e02ad2e74d04" /><Relationship Type="http://schemas.openxmlformats.org/officeDocument/2006/relationships/presProps" Target="/ppt/presProps.xml" Id="Rea56ec16bbd447bd" /><Relationship Type="http://schemas.openxmlformats.org/officeDocument/2006/relationships/tableStyles" Target="/ppt/tableStyles.xml" Id="R3ebb770303624f09" /><Relationship Type="http://schemas.openxmlformats.org/officeDocument/2006/relationships/slide" Target="/ppt/slides/slide1.xml" Id="R28645a89a6b04af9" /><Relationship Type="http://schemas.openxmlformats.org/officeDocument/2006/relationships/slide" Target="/ppt/slides/slide2.xml" Id="R473abbb8ff534c2e" /><Relationship Type="http://schemas.openxmlformats.org/officeDocument/2006/relationships/slide" Target="/ppt/slides/slide3.xml" Id="Reebaefbee1114c6e" /><Relationship Type="http://schemas.openxmlformats.org/officeDocument/2006/relationships/slide" Target="/ppt/slides/slide4.xml" Id="Rcb1ae0de2aae4c33" /><Relationship Type="http://schemas.openxmlformats.org/officeDocument/2006/relationships/slide" Target="/ppt/slides/slide5.xml" Id="R6d92dc0b6ad640b7" /><Relationship Type="http://schemas.openxmlformats.org/officeDocument/2006/relationships/slide" Target="/ppt/slides/slide6.xml" Id="R72f83c6285764060" /><Relationship Type="http://schemas.openxmlformats.org/officeDocument/2006/relationships/slide" Target="/ppt/slides/slide7.xml" Id="Rcad6703354c44955" /><Relationship Type="http://schemas.openxmlformats.org/officeDocument/2006/relationships/slide" Target="/ppt/slides/slide8.xml" Id="R75f6397ab2494040" /><Relationship Type="http://schemas.openxmlformats.org/officeDocument/2006/relationships/slide" Target="/ppt/slides/slide9.xml" Id="Rc021dead89614c85" /><Relationship Type="http://schemas.openxmlformats.org/officeDocument/2006/relationships/slide" Target="/ppt/slides/slide10.xml" Id="Rfb1b3a7369b5454b" /><Relationship Type="http://schemas.openxmlformats.org/officeDocument/2006/relationships/slide" Target="/ppt/slides/slide11.xml" Id="Recd725f9970b462c" /><Relationship Type="http://schemas.openxmlformats.org/officeDocument/2006/relationships/slide" Target="/ppt/slides/slide12.xml" Id="R39cfd36928064ad4" /><Relationship Type="http://schemas.openxmlformats.org/officeDocument/2006/relationships/slide" Target="/ppt/slides/slide13.xml" Id="R84984f0005b247c8" /><Relationship Type="http://schemas.openxmlformats.org/officeDocument/2006/relationships/slide" Target="/ppt/slides/slide14.xml" Id="R8c069c77cf2d4a75" /><Relationship Type="http://schemas.openxmlformats.org/officeDocument/2006/relationships/slide" Target="/ppt/slides/slide15.xml" Id="R44e15793bfab4772" /><Relationship Type="http://schemas.openxmlformats.org/officeDocument/2006/relationships/slide" Target="/ppt/slides/slide16.xml" Id="R6dc880fc783a4bc9" /><Relationship Type="http://schemas.openxmlformats.org/officeDocument/2006/relationships/slide" Target="/ppt/slides/slide17.xml" Id="R02f8a56512f04c99" /><Relationship Type="http://schemas.openxmlformats.org/officeDocument/2006/relationships/slide" Target="/ppt/slides/slide18.xml" Id="Rb037af875af6443c" /><Relationship Type="http://schemas.openxmlformats.org/officeDocument/2006/relationships/slide" Target="/ppt/slides/slide19.xml" Id="Rd16dfb30cc6a425a" /><Relationship Type="http://schemas.openxmlformats.org/officeDocument/2006/relationships/slide" Target="/ppt/slides/slide20.xml" Id="R50a689e0386347cf" /><Relationship Type="http://schemas.openxmlformats.org/officeDocument/2006/relationships/slide" Target="/ppt/slides/slide21.xml" Id="R39707fd9591a4c31" /><Relationship Type="http://schemas.openxmlformats.org/officeDocument/2006/relationships/slide" Target="/ppt/slides/slide22.xml" Id="Rc484b0c6f76b4292" /><Relationship Type="http://schemas.openxmlformats.org/officeDocument/2006/relationships/slide" Target="/ppt/slides/slide23.xml" Id="R6b2957f93e0347b0" /><Relationship Type="http://schemas.openxmlformats.org/officeDocument/2006/relationships/slide" Target="/ppt/slides/slide24.xml" Id="R056c3036fffe44e7" /><Relationship Type="http://schemas.openxmlformats.org/officeDocument/2006/relationships/slide" Target="/ppt/slides/slide25.xml" Id="R2e3a18c620064ce3" /><Relationship Type="http://schemas.openxmlformats.org/officeDocument/2006/relationships/slide" Target="/ppt/slides/slide26.xml" Id="R69dd982aa02741af" /><Relationship Type="http://schemas.openxmlformats.org/officeDocument/2006/relationships/slide" Target="/ppt/slides/slide27.xml" Id="Rfc8285e763594ef8" /><Relationship Type="http://schemas.openxmlformats.org/officeDocument/2006/relationships/slide" Target="/ppt/slides/slide28.xml" Id="Ra6f9877d462d47a3" /><Relationship Type="http://schemas.openxmlformats.org/officeDocument/2006/relationships/slide" Target="/ppt/slides/slide29.xml" Id="Rdc404a570abb45af" /><Relationship Type="http://schemas.openxmlformats.org/officeDocument/2006/relationships/slide" Target="/ppt/slides/slide30.xml" Id="R1e9650027b7d416f" /><Relationship Type="http://schemas.openxmlformats.org/officeDocument/2006/relationships/slide" Target="/ppt/slides/slide31.xml" Id="R0d0e59d288e2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172abc86341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563aaeb3484fd7" /><Relationship Type="http://schemas.openxmlformats.org/officeDocument/2006/relationships/notesMaster" Target="/ppt/notesMasters/notesMaster1.xml" Id="Rc5f9d2f303eb45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54c7ae3f349b7" /><Relationship Type="http://schemas.openxmlformats.org/officeDocument/2006/relationships/notesMaster" Target="/ppt/notesMasters/notesMaster1.xml" Id="R756cd2c0f0004f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a7e2e40a6d470e" /><Relationship Type="http://schemas.openxmlformats.org/officeDocument/2006/relationships/notesMaster" Target="/ppt/notesMasters/notesMaster1.xml" Id="R5963f994435f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17deee17b64026" /><Relationship Type="http://schemas.openxmlformats.org/officeDocument/2006/relationships/notesMaster" Target="/ppt/notesMasters/notesMaster1.xml" Id="R3f8044f209b742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efb9d748374003" /><Relationship Type="http://schemas.openxmlformats.org/officeDocument/2006/relationships/notesMaster" Target="/ppt/notesMasters/notesMaster1.xml" Id="Rbfacf1a33e6145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3e901abe6a4995" /><Relationship Type="http://schemas.openxmlformats.org/officeDocument/2006/relationships/notesMaster" Target="/ppt/notesMasters/notesMaster1.xml" Id="R6fbef14e2b7c4b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0a7682f5bf4f80" /><Relationship Type="http://schemas.openxmlformats.org/officeDocument/2006/relationships/notesMaster" Target="/ppt/notesMasters/notesMaster1.xml" Id="R407a96c327ad43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5a8d66d4c444e7" /><Relationship Type="http://schemas.openxmlformats.org/officeDocument/2006/relationships/notesMaster" Target="/ppt/notesMasters/notesMaster1.xml" Id="R7dc964c6ce6046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2b5af993f457e" /><Relationship Type="http://schemas.openxmlformats.org/officeDocument/2006/relationships/notesMaster" Target="/ppt/notesMasters/notesMaster1.xml" Id="Rbf79238098c047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95c3f0e0c94708" /><Relationship Type="http://schemas.openxmlformats.org/officeDocument/2006/relationships/notesMaster" Target="/ppt/notesMasters/notesMaster1.xml" Id="R1eccee6d02cc49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3d066b684b4e38" /><Relationship Type="http://schemas.openxmlformats.org/officeDocument/2006/relationships/notesMaster" Target="/ppt/notesMasters/notesMaster1.xml" Id="R5f5152a47af54e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45984ec1a74e05" /><Relationship Type="http://schemas.openxmlformats.org/officeDocument/2006/relationships/notesMaster" Target="/ppt/notesMasters/notesMaster1.xml" Id="R581d240e49f14e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9899750fb148dc" /><Relationship Type="http://schemas.openxmlformats.org/officeDocument/2006/relationships/notesMaster" Target="/ppt/notesMasters/notesMaster1.xml" Id="R89969e1ed61e45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0ba322366642e5" /><Relationship Type="http://schemas.openxmlformats.org/officeDocument/2006/relationships/notesMaster" Target="/ppt/notesMasters/notesMaster1.xml" Id="Rbd12a0cc407a41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a981a868b84509" /><Relationship Type="http://schemas.openxmlformats.org/officeDocument/2006/relationships/notesMaster" Target="/ppt/notesMasters/notesMaster1.xml" Id="R9ca5d377005445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c17a1037b14257" /><Relationship Type="http://schemas.openxmlformats.org/officeDocument/2006/relationships/notesMaster" Target="/ppt/notesMasters/notesMaster1.xml" Id="R95e2b4a225e940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679d73c75c4cc7" /><Relationship Type="http://schemas.openxmlformats.org/officeDocument/2006/relationships/notesMaster" Target="/ppt/notesMasters/notesMaster1.xml" Id="Rc81280c5cdd442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3c06eb9c28459c" /><Relationship Type="http://schemas.openxmlformats.org/officeDocument/2006/relationships/notesMaster" Target="/ppt/notesMasters/notesMaster1.xml" Id="R61563034fa294d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6b0ef2732746e7" /><Relationship Type="http://schemas.openxmlformats.org/officeDocument/2006/relationships/notesMaster" Target="/ppt/notesMasters/notesMaster1.xml" Id="R98efcc9ec0d649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7fe1053e704656" /><Relationship Type="http://schemas.openxmlformats.org/officeDocument/2006/relationships/notesMaster" Target="/ppt/notesMasters/notesMaster1.xml" Id="R667d78e4693342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2a1316650f4880" /><Relationship Type="http://schemas.openxmlformats.org/officeDocument/2006/relationships/notesMaster" Target="/ppt/notesMasters/notesMaster1.xml" Id="R9ade3df8c43a43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6b087bb0ca4bb6" /><Relationship Type="http://schemas.openxmlformats.org/officeDocument/2006/relationships/notesMaster" Target="/ppt/notesMasters/notesMaster1.xml" Id="Red0985ed0fac439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04b7f964ce476c" /><Relationship Type="http://schemas.openxmlformats.org/officeDocument/2006/relationships/notesMaster" Target="/ppt/notesMasters/notesMaster1.xml" Id="R89998e2667e64c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4da731d1ff455e" /><Relationship Type="http://schemas.openxmlformats.org/officeDocument/2006/relationships/notesMaster" Target="/ppt/notesMasters/notesMaster1.xml" Id="Rb33fd395bcc74d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6d6f0acd90439a" /><Relationship Type="http://schemas.openxmlformats.org/officeDocument/2006/relationships/notesMaster" Target="/ppt/notesMasters/notesMaster1.xml" Id="Race0a02464cf4e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a2fc36a41194dc4" /><Relationship Type="http://schemas.openxmlformats.org/officeDocument/2006/relationships/notesMaster" Target="/ppt/notesMasters/notesMaster1.xml" Id="R0b133854872747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776b4d34bf54017" /><Relationship Type="http://schemas.openxmlformats.org/officeDocument/2006/relationships/notesMaster" Target="/ppt/notesMasters/notesMaster1.xml" Id="R6957410fb69742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05f21296484a83" /><Relationship Type="http://schemas.openxmlformats.org/officeDocument/2006/relationships/notesMaster" Target="/ppt/notesMasters/notesMaster1.xml" Id="R29dc8aa3a10f4c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45d5163070433e" /><Relationship Type="http://schemas.openxmlformats.org/officeDocument/2006/relationships/notesMaster" Target="/ppt/notesMasters/notesMaster1.xml" Id="R7e42f46f346c44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0ca9acb08f43a4" /><Relationship Type="http://schemas.openxmlformats.org/officeDocument/2006/relationships/notesMaster" Target="/ppt/notesMasters/notesMaster1.xml" Id="R0aca3305e2864e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56dd18a9a614586" /><Relationship Type="http://schemas.openxmlformats.org/officeDocument/2006/relationships/notesMaster" Target="/ppt/notesMasters/notesMaster1.xml" Id="R2a842a80d2c5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Ouverture du dossier. Positionner TOK comme un système complet pour restaurateurs.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Mettre l’accent sur la rentabilité et la relation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3. Les plateformes ont créé de la demande, mais elles déplacent aussi le centre de gravité.</a:t>
            </a:r>
          </a:p>
          <a:p xmlns:a="http://schemas.openxmlformats.org/drawingml/2006/main">
            <a:r>
              <a:t>Plus le canal devient dominant, plus le restaurateur doit mesurer le coût réel : commission, promotions, dépendance, données clients et charge opérationnelle.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Uber Eats : page pricing US et article d’aide Marketplace Fee Changes. Ne pas présenter ces chiffres comme tarif suisse garanti.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Valoriser TheFork honnêtement sur la réservation. Différencier TOK par la largeur fonctionnelle et le local suisse.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Carte mentale pour expliquer que TOK complète puis peut remplacer plusieurs outils.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proposition TOK</a:t>
            </a:r>
          </a:p>
          <a:p xmlns:a="http://schemas.openxmlformats.org/drawingml/2006/main">
            <a:r>
              <a:t>Un système complet conçu autour des besoins quotidiens du restaurateur suisse.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produit comme un operating system commercial.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Relier à la demande utilisateur sur les commodités.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informations pratiques deviennent un avantage de conversion et de filtre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continuité du flux.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du dashboard local ouvert dans le navigateur intégré.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le lien avec les packs de lancement.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Outils de pilotage de marge et d’occupation.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campagne doit pointer vers une vraie action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Fidélité comme récupération de relation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dashboard est large mais activable progressivement.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Montants serveur-vérifiés et audités.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Lien avec validation du dossier d’inscription.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Offres restaurateurs</a:t>
            </a:r>
          </a:p>
          <a:p xmlns:a="http://schemas.openxmlformats.org/drawingml/2006/main">
            <a:r>
              <a:t>Pack de lancement ponctuel + abonnement mensuel : le restaurateur choisit son niveau d’accompagnement.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Paiement unique.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Choix restaurateur et paiement obligatoire avant activation complète.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Parcours aligné avec les fonctionnalités demandées.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Comparatif refait en cartes pour éviter un tableau trop dense.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Utiliser pour lancer une simulation personnalisée.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30 jours orienté terrain.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Réponses consultatives.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crédibilité.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Annexe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Annexe sources internes.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Clore sur la simulation personnalisée et l’onboarding.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40075893641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97a2288bf64503" /><Relationship Type="http://schemas.openxmlformats.org/officeDocument/2006/relationships/slideLayout" Target="/ppt/slideLayouts/slideLayout1.xml" Id="R1098712a6779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8712a6779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2e193673149c6" /><Relationship Type="http://schemas.openxmlformats.org/officeDocument/2006/relationships/image" Target="/ppt/media/image.png" Id="R3134931a72c34af2" /><Relationship Type="http://schemas.openxmlformats.org/officeDocument/2006/relationships/image" Target="/ppt/media/image2.png" Id="R0b0fb2ea3ee3426a" /><Relationship Type="http://schemas.openxmlformats.org/officeDocument/2006/relationships/notesSlide" Target="/ppt/notesSlides/notesSlide1.xml" Id="Re818664c2267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b6b6536404640" /><Relationship Type="http://schemas.openxmlformats.org/officeDocument/2006/relationships/image" Target="/ppt/media/image3.png" Id="R1d62d2795dda4a44" /><Relationship Type="http://schemas.openxmlformats.org/officeDocument/2006/relationships/notesSlide" Target="/ppt/notesSlides/notesSlide2.xml" Id="Rf504dd2338614e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9c78b75094b78" /><Relationship Type="http://schemas.openxmlformats.org/officeDocument/2006/relationships/image" Target="/ppt/media/image4.png" Id="Rbfc895291bd247b2" /><Relationship Type="http://schemas.openxmlformats.org/officeDocument/2006/relationships/notesSlide" Target="/ppt/notesSlides/notesSlide3.xml" Id="R758ebebc9b174c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d276562fa4c50" /><Relationship Type="http://schemas.openxmlformats.org/officeDocument/2006/relationships/notesSlide" Target="/ppt/notesSlides/notesSlide4.xml" Id="R34fc2da6774744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924e2b0cc4ee0" /><Relationship Type="http://schemas.openxmlformats.org/officeDocument/2006/relationships/notesSlide" Target="/ppt/notesSlides/notesSlide5.xml" Id="Rd4d6f66f10d3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4fa7f8f9d4adf" /><Relationship Type="http://schemas.openxmlformats.org/officeDocument/2006/relationships/notesSlide" Target="/ppt/notesSlides/notesSlide6.xml" Id="Rcd521f5c3f4f4f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a757fd34c495c" /><Relationship Type="http://schemas.openxmlformats.org/officeDocument/2006/relationships/image" Target="/ppt/media/image5.png" Id="R2d2718993a5a424f" /><Relationship Type="http://schemas.openxmlformats.org/officeDocument/2006/relationships/image" Target="/ppt/media/image6.png" Id="R1beb4220557e4513" /><Relationship Type="http://schemas.openxmlformats.org/officeDocument/2006/relationships/notesSlide" Target="/ppt/notesSlides/notesSlide7.xml" Id="R76af06a482ac48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2ca5004484bf3" /><Relationship Type="http://schemas.openxmlformats.org/officeDocument/2006/relationships/notesSlide" Target="/ppt/notesSlides/notesSlide8.xml" Id="R4814af44091a41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7778673e4713" /><Relationship Type="http://schemas.openxmlformats.org/officeDocument/2006/relationships/notesSlide" Target="/ppt/notesSlides/notesSlide9.xml" Id="Rf0161f4207a642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a48b000fa4c6f" /><Relationship Type="http://schemas.openxmlformats.org/officeDocument/2006/relationships/notesSlide" Target="/ppt/notesSlides/notesSlide10.xml" Id="Re684ffca5ee049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76e03380f4159" /><Relationship Type="http://schemas.openxmlformats.org/officeDocument/2006/relationships/notesSlide" Target="/ppt/notesSlides/notesSlide11.xml" Id="R998291e084094e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e619e5e144b1b" /><Relationship Type="http://schemas.openxmlformats.org/officeDocument/2006/relationships/image" Target="/ppt/media/image.jpeg" Id="R37d6ac09b54b439c" /><Relationship Type="http://schemas.openxmlformats.org/officeDocument/2006/relationships/notesSlide" Target="/ppt/notesSlides/notesSlide12.xml" Id="R4c5c7b69197341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f12fdd05a4778" /><Relationship Type="http://schemas.openxmlformats.org/officeDocument/2006/relationships/image" Target="/ppt/media/image7.png" Id="R9c6539132180410a" /><Relationship Type="http://schemas.openxmlformats.org/officeDocument/2006/relationships/notesSlide" Target="/ppt/notesSlides/notesSlide13.xml" Id="Rba098b97a71e4a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48264787e4e58" /><Relationship Type="http://schemas.openxmlformats.org/officeDocument/2006/relationships/notesSlide" Target="/ppt/notesSlides/notesSlide14.xml" Id="Rd3b51b74e46f4e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91d4338a84209" /><Relationship Type="http://schemas.openxmlformats.org/officeDocument/2006/relationships/notesSlide" Target="/ppt/notesSlides/notesSlide15.xml" Id="Rd642b59bf45445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4af3b7c74e40" /><Relationship Type="http://schemas.openxmlformats.org/officeDocument/2006/relationships/notesSlide" Target="/ppt/notesSlides/notesSlide16.xml" Id="Rdc32bf3c475941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80da9bd994f79" /><Relationship Type="http://schemas.openxmlformats.org/officeDocument/2006/relationships/notesSlide" Target="/ppt/notesSlides/notesSlide17.xml" Id="R821a1ee0a1884b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aeb87714947c5" /><Relationship Type="http://schemas.openxmlformats.org/officeDocument/2006/relationships/notesSlide" Target="/ppt/notesSlides/notesSlide18.xml" Id="Re7cd9ed05c594f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8dfccdd0d45b5" /><Relationship Type="http://schemas.openxmlformats.org/officeDocument/2006/relationships/notesSlide" Target="/ppt/notesSlides/notesSlide19.xml" Id="Rb36228228f9c44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e76dc3e2f42bb" /><Relationship Type="http://schemas.openxmlformats.org/officeDocument/2006/relationships/image" Target="/ppt/media/image8.png" Id="R6da14e7e9d194a9d" /><Relationship Type="http://schemas.openxmlformats.org/officeDocument/2006/relationships/image" Target="/ppt/media/image9.png" Id="R08f8a4f0ca7b44ca" /><Relationship Type="http://schemas.openxmlformats.org/officeDocument/2006/relationships/notesSlide" Target="/ppt/notesSlides/notesSlide20.xml" Id="R579024efbd8b475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b71614e7747b1" /><Relationship Type="http://schemas.openxmlformats.org/officeDocument/2006/relationships/notesSlide" Target="/ppt/notesSlides/notesSlide21.xml" Id="R803cd667b7ab4b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6bf8bb41046ff" /><Relationship Type="http://schemas.openxmlformats.org/officeDocument/2006/relationships/notesSlide" Target="/ppt/notesSlides/notesSlide22.xml" Id="Rfa67222db3164a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75b42266e4b7a" /><Relationship Type="http://schemas.openxmlformats.org/officeDocument/2006/relationships/notesSlide" Target="/ppt/notesSlides/notesSlide23.xml" Id="R5f02d583b94549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716b6b1894f96" /><Relationship Type="http://schemas.openxmlformats.org/officeDocument/2006/relationships/notesSlide" Target="/ppt/notesSlides/notesSlide24.xml" Id="R6a63372a6a404f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21990d92648de" /><Relationship Type="http://schemas.openxmlformats.org/officeDocument/2006/relationships/chart" Target="/ppt/slides/charts/chart1.xml" Id="Rd9f9311ae81d4b68" /><Relationship Type="http://schemas.openxmlformats.org/officeDocument/2006/relationships/notesSlide" Target="/ppt/notesSlides/notesSlide25.xml" Id="R3b14a2fe9f7041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25f4ab289468a" /><Relationship Type="http://schemas.openxmlformats.org/officeDocument/2006/relationships/notesSlide" Target="/ppt/notesSlides/notesSlide26.xml" Id="R84ba267cea7944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6fdf883ff4a8e" /><Relationship Type="http://schemas.openxmlformats.org/officeDocument/2006/relationships/notesSlide" Target="/ppt/notesSlides/notesSlide27.xml" Id="R95f99e1d25cd4c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0f3cedff54c21" /><Relationship Type="http://schemas.openxmlformats.org/officeDocument/2006/relationships/notesSlide" Target="/ppt/notesSlides/notesSlide28.xml" Id="R33e4be10681540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3197c00374002" /><Relationship Type="http://schemas.openxmlformats.org/officeDocument/2006/relationships/notesSlide" Target="/ppt/notesSlides/notesSlide29.xml" Id="R6cde4a94e6cf43e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3ba23b3034b2b" /><Relationship Type="http://schemas.openxmlformats.org/officeDocument/2006/relationships/notesSlide" Target="/ppt/notesSlides/notesSlide30.xml" Id="R74f59532e3d14f4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aea0da4da488d" /><Relationship Type="http://schemas.openxmlformats.org/officeDocument/2006/relationships/image" Target="/ppt/media/image10.png" Id="Rf681572c535a4739" /><Relationship Type="http://schemas.openxmlformats.org/officeDocument/2006/relationships/image" Target="/ppt/media/image11.png" Id="Rd227e7f25277406d" /><Relationship Type="http://schemas.openxmlformats.org/officeDocument/2006/relationships/notesSlide" Target="/ppt/notesSlides/notesSlide31.xml" Id="Rca96cbe426ac4316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Coût canal CHF</c:v>
          </c:tx>
          <c:spPr>
            <a:solidFill xmlns:a="http://schemas.openxmlformats.org/drawingml/2006/main">
              <a:srgbClr val="F9731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Uber 20%</c:v>
              </c:pt>
              <c:pt idx="1">
                <c:v>Uber 25%</c:v>
              </c:pt>
              <c:pt idx="2">
                <c:v>Uber 30%</c:v>
              </c:pt>
              <c:pt idx="3">
                <c:v>TOK à mesurer</c:v>
              </c:pt>
            </c:strLit>
          </c:cat>
          <c:val>
            <c:numLit>
              <c:formatCode>#,##0 CHF</c:formatCode>
              <c:ptCount val="4"/>
              <c:pt idx="0">
                <c:v>2000</c:v>
              </c:pt>
              <c:pt idx="1">
                <c:v>2500</c:v>
              </c:pt>
              <c:pt idx="2">
                <c:v>3000</c:v>
              </c:pt>
              <c:pt idx="3">
                <c:v>1490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#,##0 CHF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4931a72c34af2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188FF-03E7-4CCD-9B29-047C943F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05174-D6DC-4E75-9B07-E5D17D5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fb2ea3ee3426a"/>
          <a:stretch xmlns:a="http://schemas.openxmlformats.org/drawingml/2006/main"/>
        </p:blipFill>
        <p:spPr>
          <a:xfrm xmlns:a="http://schemas.openxmlformats.org/drawingml/2006/main">
            <a:off x="685800" y="590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3BB14-9A29-4812-91AB-A0A93761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04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19A79-5E12-4A9A-BF92-6DF458A7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B1F61-66F1-4E40-9B8E-C9730C9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Dossier restaurateurs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59E2F-33C8-4379-85DA-DEBDB090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905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La plateforme suisse pour vendre, réserver, fidéliser et piloter votre restaurant.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11039-2149-4657-ADD4-D3BAB8FC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CBD5E1"/>
                </a:solidFill>
              </a:rPr>
              <a:t>Une alternative restaurateur-first aux marketplaces centrées sur la commission, la réservation seule ou la livraison pure.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8DEDA-F529-43E7-84E5-D2C0A19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Préparé le 15 juin 2026 · Genève / Suisse romande</a:t>
            </a:r>
          </a:p>
        </p:txBody>
      </p:sp>
    </p:spTree>
    <p:extLst>
      <p:ext uri="{BB962C8B-B14F-4D97-AF65-F5344CB8AC3E}">
        <p14:creationId xmlns:p14="http://schemas.microsoft.com/office/powerpoint/2010/main" val="843379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6CAAF-6DD1-4CDE-8635-E2679AE3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SYNTHÈSE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65A90-D29A-4CDF-BC9E-1736D6AE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0B5E7-AAFB-4A22-ADAD-78999678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2d2795dda4a44"/>
          <a:stretch xmlns:a="http://schemas.openxmlformats.org/drawingml/2006/main"/>
        </p:blipFill>
        <p:spPr>
          <a:xfrm xmlns:a="http://schemas.openxmlformats.org/drawingml/2006/main">
            <a:off x="685800" y="8382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2BB9A-EFF1-40CA-B8E6-B17F744A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763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A1FB5-5892-41F3-9B8A-84280070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Pourquoi TOK mérite une place dans votre stratégie commerciale.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D3625-5071-43F0-8BA5-BEAC4570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Le restaurateur ne cherche pas seulement du volume. Il cherche du volume rentable, traçable, local et activable sans perdre la relation client.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F9B46-B046-4774-83A8-07D27EB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343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1D1C1-0567-47DA-8C1B-B0F56CFB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9D642-4522-4407-AF08-6A7FFA08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16D39-AD0C-4E56-A791-635B1FA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Client, restaurateur, coursier et admin dans le même écosystème.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573CA-2DFA-4E03-936D-7D3DF0B2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57650"/>
            <a:ext cx="2343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711DC-5AAA-4ACF-97E9-338467C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29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PILIERS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F32CE-1AB4-43B6-9EFE-EBBCB422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76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B981"/>
                </a:solidFill>
              </a:defRPr>
            </a:pPr>
            <a:r>
              <a:rPr sz="2100" b="1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B162A-217F-4778-B6F1-C10C6AD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48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Découverte, commande, réservation, fidélité, plus opérations.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1D6C5-48E2-48C9-9860-00824BE8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2343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EFF4F-4888-4368-B984-81158D3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ANGLE MORT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4258D-9645-4685-9516-83C6BC9B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64667-7178-44FB-A787-A368466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Paiement, validation, support, factures et performance intégrés.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F8020-0365-46E0-9C51-D87BB5D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76350"/>
            <a:ext cx="2838450" cy="4476750"/>
          </a:xfrm>
          <a:prstGeom xmlns:a="http://schemas.openxmlformats.org/drawingml/2006/main" prst="roundRect">
            <a:avLst>
              <a:gd name="adj" fmla="val 7383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7DE37-043C-49DD-8420-DF74D840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0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Conclusion courte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286B0-370D-4C00-A793-D6686AA0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209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TheFork apporte surtout réservation, visibilité et CRM. Uber Eats apporte surtout volume livraison et logistique. TOK vise le pilotage commercial complet du restaurant : chiffre direct, flux opérationnels, clientèle, marketing et confiance.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A6A87-BB65-4E92-AC42-380868E4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5300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À présenter comme un canal additionnel puis comme cockpit principal.</a:t>
            </a:r>
          </a:p>
        </p:txBody>
      </p:sp>
    </p:spTree>
    <p:extLst>
      <p:ext uri="{BB962C8B-B14F-4D97-AF65-F5344CB8AC3E}">
        <p14:creationId xmlns:p14="http://schemas.microsoft.com/office/powerpoint/2010/main" val="449815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822557-B5B4-40CF-84D7-5F6A740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CONTEXTE MARCHÉ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A2AA0-68BA-4C28-9EBF-6AA4BFC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F34D3-F34E-47AB-ABD0-5BA67180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ECCA1-C8A0-4C13-BE30-D22B57DD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Les plateformes ont créé de la demande, mais elles déplacent aussi le centre de gravité.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1449F-B55F-4BDD-989D-7EEB3990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Plus le canal devient dominant, plus le restaurateur doit mesurer le coût réel : commission, promotions, dépendance, données clients et charge opérationnelle.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330DC-B0A2-4E9A-BC24-F9644E61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BCC89-056B-4D2C-8867-7C97457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Volume sans marge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DA77-A6E6-4453-AE1B-D9C8EA0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Une commande ou une réservation n’est pas toujours rentable si le coût d’acquisition, les remises et le temps équipe ne sont pas suivis.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43C73-5682-411A-8AC1-0FCE1D1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12D9F-1092-4FD8-827F-B272F425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Relation client diluée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4A469-8046-4884-9D6B-3FA81E27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Quand le client retient surtout la marketplace, le restaurant récupère moins de données, moins de réachat direct et moins de fidélité locale.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C3EAF-75D9-49BB-8A5C-212F0FC2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016AC-5093-4582-B12D-75AEFBE6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Outils dispersés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990C6-3ACF-41C7-A71E-1F1AB05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Réservation, livraison, CRM, avis, factures et campagnes finissent souvent dans des interfaces séparées.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AE541-4D9B-435A-A9B1-386C77C5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47750"/>
            <a:ext cx="4648200" cy="47625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895291bd247b2"/>
          <a:srcRect xmlns:a="http://schemas.openxmlformats.org/drawingml/2006/main" l="17554" t="0" r="175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238250"/>
            <a:ext cx="4267200" cy="4381500"/>
          </a:xfrm>
          <a:prstGeom xmlns:a="http://schemas.openxmlformats.org/drawingml/2006/main" prst="roundRect">
            <a:avLst>
              <a:gd name="adj" fmla="val 4911"/>
            </a:avLst>
          </a:prstGeom>
        </p:spPr>
      </p:pic>
    </p:spTree>
    <p:extLst>
      <p:ext uri="{BB962C8B-B14F-4D97-AF65-F5344CB8AC3E}">
        <p14:creationId xmlns:p14="http://schemas.microsoft.com/office/powerpoint/2010/main" val="1369672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4929E-E989-472E-83CA-942D529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DONNÉES CONCURRENTES · UBER EATS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FD946-5657-41DA-9032-A7232A51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5D397-9725-4FFF-98C5-EDB2113E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826DD-91C8-4E54-9065-3094514D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Uber Eats : forte portée livraison, frais marketplace publics élevés selon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99294-468F-48EB-8157-397A452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Sources officielles consultées le 15 juin 2026. Les pages Uber indiquent que les structures de frais peuvent varier par marché : tout chiffre doit être vérifié contractuellement en Suisse.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EECCF-3A8F-4154-8166-81727805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29BFF-2E6F-4560-BD2D-4CE4DD4D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434B2-5155-4A5F-B1BC-6AC0A30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7316"/>
                </a:solidFill>
              </a:defRPr>
            </a:pPr>
            <a:r>
              <a:rPr sz="2850" b="1">
                <a:solidFill>
                  <a:srgbClr val="F97316"/>
                </a:solidFill>
              </a:rPr>
              <a:t>20%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76E8F-0AE8-4E07-AADE-45C64C0E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Marketplace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09B9A-26F6-4F7A-8C15-26BC9EF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C0456-0A3C-4872-900B-B5511EA5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B7B68-8A69-4573-9605-512FE6A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3140C-3247-44FB-8190-56F23EEB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Marketplace fee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AB407-AED8-4068-88B9-49355C8E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147B0-EC61-40DD-90D5-8683A8C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Premium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76ABC-7E65-46F4-BA61-66BE091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C3AED"/>
                </a:solidFill>
              </a:defRPr>
            </a:pPr>
            <a:r>
              <a:rPr sz="2850" b="1">
                <a:solidFill>
                  <a:srgbClr val="7C3AED"/>
                </a:solidFill>
              </a:rPr>
              <a:t>30%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E7E28-12A5-4D65-8241-9FBB7E8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Marketplace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BB7CE-7988-4822-94FF-1C455DB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400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AA451-445E-493B-AC5D-6B9CE3F5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Pickup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EAAE0-A7A9-4B68-9711-C60946A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81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B981"/>
                </a:solidFill>
              </a:defRPr>
            </a:pPr>
            <a:r>
              <a:rPr sz="2850" b="1">
                <a:solidFill>
                  <a:srgbClr val="10B981"/>
                </a:solidFill>
              </a:rPr>
              <a:t>7% / 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22DD6-72AA-4337-8EBE-48452FDE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Selon validation prix en magasin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F8121-AEA0-4EB1-BF5B-1820A4F9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FDCA8-29DE-4FA4-A615-BEAF3C15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Lecture restaurateur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AB57A-6A8E-418D-9651-55ABEB1E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Uber Eats peut générer du volume et de la livraison, mais la marge doit être pilotée par canal : frais, remises, pricing spécifique, emballages, préparation et relation client indirecte.</a:t>
            </a:r>
          </a:p>
        </p:txBody>
      </p:sp>
    </p:spTree>
    <p:extLst>
      <p:ext uri="{BB962C8B-B14F-4D97-AF65-F5344CB8AC3E}">
        <p14:creationId xmlns:p14="http://schemas.microsoft.com/office/powerpoint/2010/main" val="1679727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D5ED4-7752-4251-BBDB-1DB64CAC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DONNÉES CONCURRENTES · THEFORK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17B43-B388-4394-B8F0-3C8B6E32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C35A7-4861-447A-82D0-61CF8A70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855C-C79A-460F-9DB4-B49D951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TheFork : référence européenne de réservation, avec outils solides autour de la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43762-455C-4861-8C29-BC24DB1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960CC-7A64-477E-A7F1-35A8BF8B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RESTAURANTS PARTENAIRES ANNONCÉS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3E750-12D1-4B01-A944-3199F31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55 000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2ED66-6ABF-4400-A65F-9C63113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0C49-9BB0-4C41-BC78-631AFE1F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RESTAURANTS MICHELIN ANNONCÉS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D2023-C2AC-4C80-A717-B87285D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2 500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88146-11B5-4EE3-BBF5-968E131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CC61A-9AF9-4A60-B578-969CAD76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AVIS VÉRIFIÉS SELON THEFORK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254EE-F00D-47B8-BB92-E94C50D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B981"/>
                </a:solidFill>
              </a:defRPr>
            </a:pPr>
            <a:r>
              <a:rPr sz="2100" b="1">
                <a:solidFill>
                  <a:srgbClr val="10B981"/>
                </a:solidFill>
              </a:rPr>
              <a:t>20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2AC53-9786-4796-B027-101537B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CCA96-2DF9-41C0-B584-15163BF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</a:defRPr>
            </a:pPr>
            <a:r>
              <a:rPr sz="750" b="1">
                <a:solidFill>
                  <a:srgbClr val="6B7280"/>
                </a:solidFill>
              </a:rPr>
              <a:t>COMMISSION SUR WIDGETS DIRECTS SELON THEFORK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D916D-C979-44AF-AC54-33DFE98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 CHF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1D7F3-65AE-4F4D-B926-23AF70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143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7C324-3F58-4EE1-8381-6B3C863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Ce que TheFork couvre très bien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F1B49-2C67-4ECF-B2E7-90F7293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Réservations multi-canal, plan de salle, protection no-show, CRM invité, analytics, visibilité européenne, widgets web/social et support restaurateur.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DA3A6-0AB0-4281-A299-39BDCCDA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143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81C80-6523-4FB2-BD15-FFD2B340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L’espace où TOK se différencie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2B7AD-8F59-422B-B029-354E7663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TOK réunit réservation, commande, paiement, livraison/coursiers, offres anti-gaspi, ventes flash, actualités, fidélité, factures et cockpit admin dans le même produit.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D1840-78A8-49E8-992B-7C4F7C22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Note : la page prix TheFork détaille surtout les plans et fonctionnalités ; les conditions financières exactes restent à vérifier selon pays, contrat et canal.</a:t>
            </a:r>
          </a:p>
        </p:txBody>
      </p:sp>
    </p:spTree>
    <p:extLst>
      <p:ext uri="{BB962C8B-B14F-4D97-AF65-F5344CB8AC3E}">
        <p14:creationId xmlns:p14="http://schemas.microsoft.com/office/powerpoint/2010/main" val="165206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206FB-1EE4-4ECF-9FFD-3B64786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POSITIONNEMENT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311A3-C4F3-45FF-BDC1-B780D1EE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6EAA8-6600-4A7F-AA4F-86CACFC6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C7048-ECA3-409E-B48D-1DD0CF1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TOK n’est pas une copie : c’est une couche commerciale et opérationnelle plus large.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4625C-FD79-4A60-8F35-1B497EA1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33909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0871-910E-4524-AB02-1BBB5E2F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69358-1F75-40A4-A081-05D68B74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TheFork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5D09A-05E5-4574-BD24-A00AF5C2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Réservation, visibilité, CRM et table management.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AFA96-3B73-464A-8D06-AE80C39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D7963-21B4-45FE-9F2D-3C0D3957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Très fort sur la réservation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1CBC6-CBD6-41ED-A31D-82C899D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27C91-2C8F-4C71-9A8D-EBA6F597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Canal utile pour remplir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5BA5D-3121-478C-B750-36A754F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47077-D3EC-4EE3-A2F8-E04EA7D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Périmètre livraison limité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2ED5B-0D1E-4160-9DA5-9CC49A2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276600" cy="33909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72282-9CC8-4392-A595-807B0ED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D86EE-78A4-4596-A850-7E971CAD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Uber Eats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8F700-E609-4CF1-A9A9-4FB8F76C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Marketplace livraison et logistique à grande échelle.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F60FA-7E8F-4996-A2BB-A171E3A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038C8-32AA-48BE-8518-CAF2B52D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Très fort sur le volume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D8345-9881-49CE-9161-A907617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43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84420-4712-4F4A-8B19-0030E280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Logistique externalisée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909AF-9979-45AD-803C-096EDB2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CECE2-7FDB-4805-B646-D3218C9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95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Marge à surveiller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7CD29-1858-4101-A32B-DC5FF4B4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276600" cy="33909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E0CC0-1C07-4D5B-A7A2-1FED2260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B36F3-8C8A-417A-AF18-A13EAA7E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TOK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595BC-8889-44B4-B91C-D2818CE0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Restaurant OS suisse : vendre, réserver, livrer, fidéliser, piloter.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5A543-FFC4-4D05-8CCF-69BE580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D103E-FC93-45C5-8F4D-BE5DEB9E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7EB"/>
                </a:solidFill>
              </a:defRPr>
            </a:pPr>
            <a:r>
              <a:rPr sz="975" b="1">
                <a:solidFill>
                  <a:srgbClr val="E5E7EB"/>
                </a:solidFill>
              </a:rPr>
              <a:t>Relation client activable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EAE9F-43FF-4538-A453-620C9DEF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43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15678-6A45-4BBA-91E0-0F34F198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958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7EB"/>
                </a:solidFill>
              </a:defRPr>
            </a:pPr>
            <a:r>
              <a:rPr sz="975" b="1">
                <a:solidFill>
                  <a:srgbClr val="E5E7EB"/>
                </a:solidFill>
              </a:rPr>
              <a:t>Fonctionnalités locales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85FC2-F7EF-43CF-9FB7-AB9B673E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43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53E98-EA09-4396-B43E-1EA7384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7EB"/>
                </a:solidFill>
              </a:defRPr>
            </a:pPr>
            <a:r>
              <a:rPr sz="975" b="1">
                <a:solidFill>
                  <a:srgbClr val="E5E7EB"/>
                </a:solidFill>
              </a:rPr>
              <a:t>Cockpit restaurateur complet</a:t>
            </a:r>
          </a:p>
        </p:txBody>
      </p:sp>
    </p:spTree>
    <p:extLst>
      <p:ext uri="{BB962C8B-B14F-4D97-AF65-F5344CB8AC3E}">
        <p14:creationId xmlns:p14="http://schemas.microsoft.com/office/powerpoint/2010/main" val="1164851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718993a5a424f"/>
          <a:srcRect xmlns:a="http://schemas.openxmlformats.org/drawingml/2006/main" l="27720" t="0" r="27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01B88-EDA7-49ED-958A-5E99BD3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E8AE-A3E5-48F3-8306-29E816A6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b4220557e4513"/>
          <a:stretch xmlns:a="http://schemas.openxmlformats.org/drawingml/2006/main"/>
        </p:blipFill>
        <p:spPr>
          <a:xfrm xmlns:a="http://schemas.openxmlformats.org/drawingml/2006/main">
            <a:off x="685800" y="6096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4B3E6-B4F5-48FE-BDBB-562386DB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36D70-0132-4D75-9D32-9B73289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La proposition TOK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766B4-929D-4E7D-AE11-D13889E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Un système complet conçu autour des besoins quotidiens du restaurateur suisse.</a:t>
            </a:r>
          </a:p>
        </p:txBody>
      </p:sp>
    </p:spTree>
    <p:extLst>
      <p:ext uri="{BB962C8B-B14F-4D97-AF65-F5344CB8AC3E}">
        <p14:creationId xmlns:p14="http://schemas.microsoft.com/office/powerpoint/2010/main" val="1861592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53385-888C-4E7A-92D9-019FDD2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PRODUIT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DB28A-81A2-4DEF-AE12-10D861D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4BFBC-ABC5-45C9-B601-73AB5EB7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F43C3-F464-46D6-A561-CC9F621D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Quatre interfaces synchronisées, une seule logique métier.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BC0A1-346C-43F6-ACD0-761C07B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28CD7-F5D4-4070-B446-915653A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28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FFBB1-7631-49DF-86A5-EC5C4446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Découvrir, commander, réserver, suivre, payer, cumuler Miamz.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70F34-10B2-400F-AB44-6485EE6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5F9B4-3D6A-462A-9431-389ACE8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Restaurateur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B2A77-7B5C-46CC-B68C-5453B71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Menu, commandes, réservations, offres, campagnes, factures, plan de salle.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BF3DF-C0F3-4C16-93B0-A71A5403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02A6A-6691-4521-AC7B-4E8BE064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Coursier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37439-DD57-407F-BCC4-2F938A9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Missions, statuts, gains, notifications et dispatch.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BB4F4-D3FF-4AD2-A481-EC9E37E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2743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51974-2DA5-4182-9B31-4472443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3C34B-304F-4A25-968E-9B53406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959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Validation, supervision, feature flags, compta, support et gouvernance.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25CF0-6243-44B8-8D8D-08A07F0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52550"/>
            <a:ext cx="2743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85081-6995-42FF-BEE1-175CBCC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621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TOK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6163E-841B-46A4-828B-75A48F8C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E63AC-D8AE-49FB-AECA-87AFA43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1BACA-5F4E-472E-BF86-9856B78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-35433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44463-D076-4464-86CA-90AC6385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35433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0169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B89DB-CB6F-4F4F-B44D-D75AE3E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ACQUISITION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C9B0F-8CF4-49DA-8268-C370811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5C3B5-0752-43E8-B160-9CF548C5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7915B-49C1-4304-84F8-172E3D0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TOK transforme la fiche restaurant en point de vente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56D4B-3187-48A0-92B3-91F485A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L’objectif : qu’un client proche comprenne immédiatement pourquoi venir, commander ou réserver.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86B97-B6C4-4024-BFE4-81D68FE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2385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44984-CD51-443B-B765-A7CC8C1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Découverte locale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95889-21CA-417E-973F-2F084128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Recherche par catégorie, proximité, disponibilité, promotions, avis et informations pratiques.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BAF03-42BE-4F12-8B64-C5F1570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32385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6D346-9B0E-4F01-99C1-8FC1EA4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Profil riche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CD4C6-5022-473E-93F4-21AE059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195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Photos, menus, horaires, amenities, options de service, réseaux sociaux, actualités et badges de confiance.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464FC-A264-4198-9454-F22940DA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2385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FBFAB-FC46-450F-97F9-B11FC2D9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Action immédiate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94B92-473B-4290-87BA-7DBEB82E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195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Commander, réserver, suivre une offre, rejoindre Tok One, utiliser un avantage ou contacter le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08A7D-80C1-45FC-B70B-5BE3A5AB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Inspiration Google Business : informations pratiques très complètes, mais intégrées à la conversion TOK.</a:t>
            </a:r>
          </a:p>
        </p:txBody>
      </p:sp>
    </p:spTree>
    <p:extLst>
      <p:ext uri="{BB962C8B-B14F-4D97-AF65-F5344CB8AC3E}">
        <p14:creationId xmlns:p14="http://schemas.microsoft.com/office/powerpoint/2010/main" val="862883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C466A-ABF4-4E5B-9C55-C223F9A6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MON RESTAURANT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86724-3658-4AD1-8CC7-13CAA03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CD865-F0D9-494A-904B-AA1B90E1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7B32E-DFA5-4474-82B6-E963E926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Une fiche qui répond aux vraies questions avant même l’appel.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BA70C-00D4-45BA-BFDD-78F444FD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F9B27-8869-4E19-8ABF-08C1181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Accès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41979-EDBD-457F-BE0E-A405A85C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69A23-8A6F-46FB-B473-06BE060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9FF8E-3F8A-4DA0-A7C0-D4C54ACC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Parking gratuit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373D9-687E-43D2-98CD-7508187A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7F3C5-1AA2-4C10-83A8-F18740A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CA084-1B40-47CA-851A-E761F548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Parking payant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1C9BB-6F3D-4FBE-A00A-31110C6D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A2314-C718-45E6-BA7B-99916022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1F31F-1FDB-4C6E-AC13-2F3B31A1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Accès handicapé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8331B-7213-4A64-9929-24425586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7F0C7-D4F5-4F87-97F4-630EE04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FC161-40FD-4460-9B80-81FCBDA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Proche transports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BBD82-611C-4E80-8603-546F7585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28C38-8615-49B5-BFD7-1BC5C8AA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FD791-7589-42B4-8055-3B95CE1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FCF76-D2E0-44A7-B9E8-4331944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5561A-27D8-4225-81D0-D5434B6D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Wifi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F57CD-75C3-457C-ABBE-330A50F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AF2F3-7E90-49BD-9AEA-91FE8C60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87311-15BB-4AC2-8325-A2EE3EB3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9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Terrasse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357C7-51A8-46D5-BB8A-97BE4F8E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5BEDA-DDD9-4E54-BA40-A33A996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B3A5E-9509-488D-BF19-B3BA1DBC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Drive-in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AA9253-B2AA-47DF-8C90-6B92BE2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A4B22-08FF-4F4A-B199-C1CD54FB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F090B-49E5-4D1A-BA2C-8347B408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Click &amp; collect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EF9C8-F274-4F7D-9F62-4D43A58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4592FE-2ED3-419D-A48F-5BC4E221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Confort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01558-6191-4F8A-95A4-DEBF752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3BB869-F6A3-45FF-83EA-9217F58B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FECA4D-66B8-4D42-9212-28DED185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Animaux acceptés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612203-225E-4B6A-A0E0-182E33B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2DE4AE-5DE7-4403-B413-21D5CBE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42F87D-097F-4A67-954F-82F07F6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Enfants bienvenus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BCCA7E-422B-415D-815D-0D8C02FA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19AC35-8A05-48DB-B36D-BC91FF92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74B716-739B-4DB1-897F-1BEB0E9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Options végétariennes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D4AF7D-9020-4014-8EFB-D5C59C7B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2B247C-C3F8-4BC6-BA90-179DCCA3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95536D-F2D0-4ECA-801C-C216CCD3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Paiement sans contact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4711D6-9633-4101-8572-E488553E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BAD40D-FB1C-46C3-9F9A-2607272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Expérience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4D3189-E838-46F3-8EF9-6DC55A0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3FC01-9FD7-4234-9D02-2373E8B2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21486F-664D-4D15-AD44-DFE94C72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Table du Chef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9F0E83-63B3-424A-AE65-4061DE6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91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FEAA3A-E718-45D0-8148-6582E399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29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16812C-23CA-4CF8-B4E6-1C00865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9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Zéro Attente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E14068-1159-4B7E-92A4-02A5CAF4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45CADD-C9D5-43AC-8A86-BBB811E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8AFB8A-DD74-4ABF-ABFA-D36D9611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Groupes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874502-156F-4BCC-B3AC-12438455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72050"/>
            <a:ext cx="2095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AB9261-7263-4B7B-AF2E-07DA1A91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015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0B981"/>
                </a:solidFill>
              </a:defRPr>
            </a:pPr>
            <a:r>
              <a:rPr sz="525" b="1">
                <a:solidFill>
                  <a:srgbClr val="10B981"/>
                </a:solidFill>
              </a:rPr>
              <a:t>OK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5CD723-59C6-4FBE-B0C2-8B30EA0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00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Événements privés</a:t>
            </a:r>
          </a:p>
        </p:txBody>
      </p:sp>
    </p:spTree>
    <p:extLst>
      <p:ext uri="{BB962C8B-B14F-4D97-AF65-F5344CB8AC3E}">
        <p14:creationId xmlns:p14="http://schemas.microsoft.com/office/powerpoint/2010/main" val="16393450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B88A2-CC26-4449-ACEB-C838244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COMMANDES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995CA-219E-42C4-AE4D-CB578BBD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B3ACC-F9AB-4FE9-AB16-D295D035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A9CD-FA56-4308-A092-C46723A9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Commande, paiement et suivi : le canal doit protéger la marge autant que l’expérience.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9F4C9-C997-4AEA-83FB-94E6F0F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EEF29-31D9-4CE6-B3F0-B20BAA5D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Panier et 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5ECED-A8DE-42B3-B124-5A98AAE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Articles, quantités, options, remises et paiement validés par fonctions Supabase/Stripe.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9D01-F3B8-4C36-9E37-E8E6393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FA01B-97EF-4915-8F19-DDC5B7B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Modes de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3CD29-5AC3-4422-B6B7-62DCF03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Livraison, retrait, restaurant-managed delivery, multi-restaurant et commandes groupées selon activation.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FCFD7-CED1-4891-9C96-3240C47D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23805-69FE-4577-8DE2-BDE65A09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Suivi opérationnel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9EE18-F2C2-4297-BF9F-935ED36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Statuts visibles côté client, restaurateur, coursier et admin, avec notifications et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ACCA6-7F06-4AD3-BF9B-734ED5E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61CCB-0CE9-46E4-AFCE-B4FA98F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Traçabilité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9A6C2-795D-40A6-BABF-8B080EC5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Le back-office garde la capacité de diagnostiquer paiement, commande, dispatch et incident.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83410-C422-430C-89C9-34C8288B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4191000" cy="3657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F02AE-5632-4AEB-8AD0-88C69DA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86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Flux simplifié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D39FD-7331-4907-AA1D-A7DB67F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9A494-88EC-4599-A6D5-5FC055E4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8C531-3C9C-4BAE-9EDD-6C2C983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670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Choix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DE832-E26D-455C-8D16-666ED9A0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9F2DA-738D-4B6C-AE9B-1A88E234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10097-C86B-41A9-951C-95A0DF15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Panier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46ED3-C697-4A7E-B01F-0236ECB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3E1EF-3786-4315-A130-01E9E783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4E597-5563-4E1D-9EED-BB8F2963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242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Paiement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A2AF9-75F6-45A3-A134-19B7A4D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89929-BCF9-4547-9275-E6C1D6D5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B86A1-8EC7-481E-B595-BA5C6B1D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Préparation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A4C23-98C0-41B9-B3FD-29B5C866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A60713-502B-433F-BA90-178B9AA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D160F-4C0B-4447-9497-F5A0C04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81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Dispatch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3E7B2-AE43-4831-B443-DC27B1A7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EC5681-7B5D-49B2-BD6B-F845742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F0D015-A2A9-492A-B05C-4F22A846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E7EB"/>
                </a:solidFill>
              </a:defRPr>
            </a:pPr>
            <a:r>
              <a:rPr sz="1050" b="1">
                <a:solidFill>
                  <a:srgbClr val="E5E7EB"/>
                </a:solidFill>
              </a:rPr>
              <a:t>Suivi</a:t>
            </a:r>
          </a:p>
        </p:txBody>
      </p:sp>
    </p:spTree>
    <p:extLst>
      <p:ext uri="{BB962C8B-B14F-4D97-AF65-F5344CB8AC3E}">
        <p14:creationId xmlns:p14="http://schemas.microsoft.com/office/powerpoint/2010/main" val="1245708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66907-3A84-42D8-A7DC-6619E877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RÉSERVATIONS ET SALLE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D8397-372E-4F6C-AC59-6CDD936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00BFF-DAC0-4BD0-9365-03A2986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CCEE3-52EF-4948-BB3B-69486237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Réservation + plan de salle : plus proche du service réel.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6ac09b54b439c"/>
          <a:srcRect xmlns:a="http://schemas.openxmlformats.org/drawingml/2006/main" l="0" t="521" r="0" b="5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6858000" cy="3857625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70B34-1925-4908-9AC2-4084728D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524250" cy="3857625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33765-A1BA-48D8-BE3B-1C148009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Ce que le restaurateur pilote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1657C-4C56-4BA1-838D-5DD9EE73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Salles, secteurs, période, service, statut, tri, tables libres, file de service, service synchronisé, aperçus et optimisation.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A1743-4B09-47A8-BD43-98565E48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43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F95EB-108D-4487-9F4C-025CF39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Zéro Attente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D15C1-42FE-423A-9DFF-901C23A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Réduire l’incertitude sur certains créneaux.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7DFFE-584F-4BD8-92AF-03A38F6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5E96A-EF90-4210-ACE3-C218A7D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91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Table du Chef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AEFD9-D2B2-442D-A7D3-095D940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38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Créer des expériences premium monétisables.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956F7-90A2-441D-8157-DA0B0691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339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5F614-83BF-4873-B0F7-B5346E2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86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Aide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E088A-C400-48AC-ADB0-2C2E1187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34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Optimiser l’organisation sans perdre le contrôle.</a:t>
            </a:r>
          </a:p>
        </p:txBody>
      </p:sp>
    </p:spTree>
    <p:extLst>
      <p:ext uri="{BB962C8B-B14F-4D97-AF65-F5344CB8AC3E}">
        <p14:creationId xmlns:p14="http://schemas.microsoft.com/office/powerpoint/2010/main" val="19828848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CC3A4-175E-416B-84A2-8C78C0C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MENU ET MÉDIAS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589E5-571A-4B2B-8914-79794906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79853-6660-4425-A802-DCB5979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349B2-7764-44EB-90E6-9073AA0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menu digital doit vendre, pas seulement afficher des plats.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539132180410a"/>
          <a:srcRect xmlns:a="http://schemas.openxmlformats.org/drawingml/2006/main" l="0" t="19866" r="0" b="19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152650"/>
            <a:ext cx="4267200" cy="3429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412EF-8085-4273-A00B-20CEA2C7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7D716-768C-4569-9485-107B29D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Digitalisation de carte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F5B0A-4DEB-4059-92E8-0F854EC8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Création, catégories, disponibilité, prix, options et cohérence avec les commandes.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25A4E-95FD-4066-8EC1-62FDEFF6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1C982-79DF-4D7E-AAC3-BF15D086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Photos et visuels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72EA3-FE61-42CE-A1D1-AA2F321B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62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Upload média, retouches, mise en avant des plats et assets prêts à publier.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78003-BB6E-4D7D-BAB8-97013A9E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86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06671-4904-49C9-ACD2-6236371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Optimisation 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27257-9FE5-4E4B-B8C2-39CCF0AA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Aide à la description, amélioration visuelle, recommandations menu et cohérence marketing.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DCF7D-7F5E-4B65-A2CB-9BE2EACE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00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25822-54A5-4E9D-A015-F8CA558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Catalogue contrôlé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3509D-C8D6-41EB-9F42-1A1A3E8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01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Les contenus importants peuvent être gouvernés côté admin avant publication selon les flux.</a:t>
            </a:r>
          </a:p>
        </p:txBody>
      </p:sp>
    </p:spTree>
    <p:extLst>
      <p:ext uri="{BB962C8B-B14F-4D97-AF65-F5344CB8AC3E}">
        <p14:creationId xmlns:p14="http://schemas.microsoft.com/office/powerpoint/2010/main" val="7664883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61AF4-902F-407E-A85B-D44F447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OFFRES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62FCA-ADDF-4A92-86F3-662826D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57E49-E3E9-48EB-BA5A-D697B03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BAE99-8710-4F10-BEE1-3C9613F7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TOK donne au restaurant plusieurs leviers de chiffre, pas un seul bouton “réserver”.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71AC4-3367-4F6D-B799-16BEDED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F4D89-5F59-474F-9478-4EB9586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D8A3-A626-430C-B7EC-4A171F40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Anti-gaspi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CC5EC-5C9F-465E-9DE6-87A699E3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Valoriser les stocks restants et créer du trafic local utile.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E46C5-AC4D-4919-A02C-A7250FA8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8E64D-FC43-40EE-8690-0ABC9A7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8BAC3-D23A-4113-8B90-792F73D0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Ventes flash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A2227-E1A0-42AD-881A-DAF3050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Déclencher une décision rapide sur une offre courte.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86350-28BE-490E-B03E-F803E56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8FD82-2423-4D84-B396-658812B5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ADFE5-8F19-4AAD-B969-170BE14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Offres spéciales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0E6CC-224D-4DBE-B9F8-5E3DDE7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Piloter promos, quantités, dates et mise en avant.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AC974-1C2F-4A31-98E0-959D86D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4953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95F0C-9832-49A8-905A-DA566DF7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C7AAF-5D0F-4275-92D1-7452899B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Formules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F368E-7E9D-4F55-8E3B-E0F6CA41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58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Structurer menus, abonnements repas ou avantages récurrents.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41E75-2E2C-48AC-B133-5B07D708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Avantage commercial : chaque levier peut servir un moment précis du service, un stock, un segment client ou une campagne.</a:t>
            </a:r>
          </a:p>
        </p:txBody>
      </p:sp>
    </p:spTree>
    <p:extLst>
      <p:ext uri="{BB962C8B-B14F-4D97-AF65-F5344CB8AC3E}">
        <p14:creationId xmlns:p14="http://schemas.microsoft.com/office/powerpoint/2010/main" val="11993144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862CE3-9BA1-40B9-831F-0D141050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39B93-F28C-4484-AE6A-57BCCB1D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A9188-BD17-4FA8-92CD-13A1A683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FAEE0-EFF8-451E-96B7-52245997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Actualités, posts sociaux et campagnes : parler quand il y a quelque chose à vendre.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3AF30-9F38-490E-85EC-C8C668F4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004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3FDE3-7162-4F6E-8A86-920D7F6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Actualités TOK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B8408-2C17-4FD0-9191-3BC8C0B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Publier une nouveauté, une table libre, un menu, un événement ou un message de service.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7CDAC-7018-41AA-96D8-8C7DB975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32004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AD533-B95E-4D1A-8840-33FD64B4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Campagnes sponsorisées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2EA5F-A881-40AC-BA96-C5801CF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Budget, période, objectifs, impressions, clics, conversions et attribution multi-campagne.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8B5AA-13E5-4A74-9610-997B3386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2004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58BE5-22F0-4AAD-94ED-56033DD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Cross-posting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7DBBE-BCAA-47EA-B1CE-09AED33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Créer une cohérence avec Instagram, Facebook, TikTok et la fiche restaurant sans sortir du cockpit.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189EA-714A-4AF0-B88D-31312E3B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Le restaurateur passe d’une publicité “boîte noire” à des actions mesurées par objectif : visibilité, trafic, conversion, retour client.</a:t>
            </a:r>
          </a:p>
        </p:txBody>
      </p:sp>
    </p:spTree>
    <p:extLst>
      <p:ext uri="{BB962C8B-B14F-4D97-AF65-F5344CB8AC3E}">
        <p14:creationId xmlns:p14="http://schemas.microsoft.com/office/powerpoint/2010/main" val="1054670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C497D-521C-47D9-8B42-E26E1C3B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FIDÉLITÉ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78E00-EDCB-4BC0-B342-9C7429FD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D4B95-9ACE-4BC6-AD5B-42F50B4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44382-7F34-4C7E-A482-962D496E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Fidéliser coûte souvent moins cher que racheter sans cesse le même client.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5FF9-A4AE-4631-8D53-046013D4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C5BC6-772C-4446-A96E-2DEA5DD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Miamz et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5C73-E99E-43C0-92BD-79995AD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Créer une progression visible et des attentions qui ramènent le client.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D5C03-C2BE-4107-9A51-5AD7EE1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231F5-9CF5-4A0F-89C3-50E5811A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Tok 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D3ED7-5AD8-4357-8619-C3E76B78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Abonnements, avantages VIP, créneaux et offres réservées selon activation.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7C7B2-B363-45C0-9794-4D1AEDDB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972B3-5C5A-4543-B152-AA25EDF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Segments clients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568AB-6B51-40BF-BECD-3B8F5EFA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Différencier nouveaux clients, habitués, VIP, groupes, anniversaires ou préférences.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76E15-5577-4B1C-A5C5-DB2EDF5A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86090-174C-4D14-8A16-BC06741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Notifications utiles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141C4-F02D-4600-BDDC-05DA9D69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Informer sans spam : réservation, commande, offre pertinente, actualité suivie.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669C1-99E5-4E2F-B223-B5D0732D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3429000" cy="37147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BB631-CA1A-4858-BE07-E8CA39E0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Objectif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CBEC6-A8D7-4C2B-8DCC-804F485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Transformer un client acquis en relation directe, mesurable, activable et moins dépendante d’une marketplace externe.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10C09-916D-4B6F-ADDB-4D91B665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C’est le point où TOK devient plus qu’un canal : un actif client.</a:t>
            </a:r>
          </a:p>
        </p:txBody>
      </p:sp>
    </p:spTree>
    <p:extLst>
      <p:ext uri="{BB962C8B-B14F-4D97-AF65-F5344CB8AC3E}">
        <p14:creationId xmlns:p14="http://schemas.microsoft.com/office/powerpoint/2010/main" val="43217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0B2AD-7D0F-4456-9A3E-E36C45D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COCKPIT RESTAURATEUR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F8152-ADCC-49A5-B8A6-1C93D693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46D88-0A3D-488E-8626-41B9425F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C6BDF-882A-4361-A2AE-05651304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Un dashboard pensé pour l’exploitation, pas pour une démo marketing.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38041-3B0D-40D0-9899-28237FF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F3678-B07B-4645-8806-15CAF5C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Vue d’ensemble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4D6DD-A47B-4C91-B644-AE8F6E8D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C8212-432D-403B-89F2-0FF8D5B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BD013-73EC-436F-B406-546A7B8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B7D72-EDE4-4028-943C-3B308FF1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Commandes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5BF3F-B6A9-4B3C-8C23-79B35CAD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26AAB-4A79-446C-8A60-0BE1D98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Réservations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DDACE-7E37-487E-8792-A8A49778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8E844-212D-4AFA-9749-93E9DBA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Offres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0A0BE-B5D7-443F-A26E-F4B50E2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A4B58-8F2F-490E-8C65-11F5A007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Ventes flash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E7F85-8832-4E4D-978A-348A0ABD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BD99F-9911-46AB-84DF-F31A1B24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Formules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45F2C-BFE6-4F5B-B861-C65A1ED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EC499-E599-40D1-97CD-A0AD633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Campagnes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2D13A-0A91-42EC-8180-B26434C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F585B-BAC3-48CB-9E5D-4A19F6ED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Avis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7053D-0C63-4E27-8DD0-F9BB60ED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D9B4E-7D58-426B-8263-0FA32C0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Photos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11937-3987-452B-9A82-303B1EBB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A83ED-44B9-45AC-9F44-C7E7AD4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Factures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770920-DD3E-46B1-915A-0688C67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32378-9CDC-43BD-A453-81C8A881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F6485-D87F-4398-9CC0-D08B80DD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2856B-81F2-43C5-9736-A514EF1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Services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07C7B-648B-419D-BE19-B28EE719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52FDD-77AD-4CCA-8792-0D7E8918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Plan de salle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C3412-CE3F-447A-915E-F94239FF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5A1ED-0F7F-4FB5-855B-4D2E8745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Advisor 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FCA48-671F-4778-AC9A-5CC01CA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329250-49AF-4EE4-B56F-80C39C9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339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Réseaux sociaux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621F1C-7B95-4CC8-85DA-8C0D7C3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Ce niveau de couverture permet de commencer simple, puis d’activer les modules selon le pack, les feature flags et les besoins réels.</a:t>
            </a:r>
          </a:p>
        </p:txBody>
      </p:sp>
    </p:spTree>
    <p:extLst>
      <p:ext uri="{BB962C8B-B14F-4D97-AF65-F5344CB8AC3E}">
        <p14:creationId xmlns:p14="http://schemas.microsoft.com/office/powerpoint/2010/main" val="18576155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F21C0-C9D1-445C-AECC-ED0FE49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COMPTABILITÉ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C2D53-8566-4EC1-9CDC-9845B098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48604-6B5F-4D6C-B6B6-720D35E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2337A-DE06-498A-BCD7-C0DCC59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restaurateur doit voir ce qui entre, ce qui sort et pourquoi.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E5BB7-CEC7-43C4-A007-43FF2BA9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50CB4-0BC6-420D-A94A-9FBE3036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Factures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94B49-E7F9-4E12-B826-588D195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Factures restaurant, exports, paramètres, rapprochements et séparation restaurant/admin.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506B0-69B4-417A-A488-700E1E05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2766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3C289-1468-41AA-88D8-E23F48E0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Paiements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82549-DF5E-4693-A531-EB4EC6F4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146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Stripe, checkout, remboursements, statuts, identifiants et audit des mutations sensibles.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C7E02-2E47-42B1-8AB5-18315DA8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2766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83C63-9A14-46BD-A11B-352AD28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Pilotage marge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D5A9F-D521-49BC-86E8-A111FF79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Performance, campagnes, réservations, commandes et coûts lisibles dans le même environnement.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EB546-F97E-4B57-A70A-25D0C5C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Avantage face aux marketplaces : le restaurateur peut comparer le coût du canal avec le chiffre et les opérations, pas seulement regarder le volume brut.</a:t>
            </a:r>
          </a:p>
        </p:txBody>
      </p:sp>
    </p:spTree>
    <p:extLst>
      <p:ext uri="{BB962C8B-B14F-4D97-AF65-F5344CB8AC3E}">
        <p14:creationId xmlns:p14="http://schemas.microsoft.com/office/powerpoint/2010/main" val="4950409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4C20A-1913-4123-91FB-13A1977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CONFIANCE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60F79-B635-4EA8-99D8-342C1F7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AABAA-4528-4C9B-B7B3-944951E4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FBDA-D766-443E-9963-5AD2FE5A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Validation, support et avis : TOK protège la qualité du réseau.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1CD0B-8969-4A98-BD6A-ABD13F0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917C8-091C-4743-8A46-DE17C7E6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Dossier restaurateur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C3FE4-085D-40D4-8CA6-C0963720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Documents d’inscription envoyés à l’admin, validation avant accès complet aux fonctionnalités.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A5EAF-708B-4DF0-9EB2-497F256F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8ADB6-C613-47F9-B199-15C73E41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Avis et réponses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5658D-CB96-42B9-9CED-618923D6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Workflow de modération, réponse restaurateur, réponse admin et signaux de réputation.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129D-E270-4881-BDF5-02C9454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8EA3B-2DDB-4D18-A280-A74A22F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Support IA connecté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10484-B609-4C39-BC69-8F32CBF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Tickets traçables quand l’utilisateur est connecté, escalade et statut incident.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ABFBB-A815-4C2A-92FF-12AE0788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5176F-697F-4B54-A348-BA5E5FB1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Gouvernance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B46E5-02D7-4CCD-A1F6-BCD2A33A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Back-office pour restaurants, utilisateurs, paiements, campagnes, notifications, logs et feature flags.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85BBD-E18E-401A-BB41-664D4B9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3429000" cy="3714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A6DD2-9494-4AEE-B1E4-255F79B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Ce que cela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DAF2F-A9EF-4F4A-A352-FF076D74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266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Le restaurateur rejoint un réseau contrôlé, pas une simple liste ouverte. L’admin peut valider, corriger, auditer et accompagner.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EBB22-FA29-40B7-94C3-3189684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Un signal important pour des clients locaux qui veulent commander ou réserver en confiance.</a:t>
            </a:r>
          </a:p>
        </p:txBody>
      </p:sp>
    </p:spTree>
    <p:extLst>
      <p:ext uri="{BB962C8B-B14F-4D97-AF65-F5344CB8AC3E}">
        <p14:creationId xmlns:p14="http://schemas.microsoft.com/office/powerpoint/2010/main" val="5143295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14e7e9d194a9d"/>
          <a:srcRect xmlns:a="http://schemas.openxmlformats.org/drawingml/2006/main" l="27720" t="0" r="27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244B3-FA01-4ADB-805C-62D06207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2CDB5-73DC-4E25-B0B0-A69334A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8a4f0ca7b44ca"/>
          <a:stretch xmlns:a="http://schemas.openxmlformats.org/drawingml/2006/main"/>
        </p:blipFill>
        <p:spPr>
          <a:xfrm xmlns:a="http://schemas.openxmlformats.org/drawingml/2006/main">
            <a:off x="685800" y="6096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A4AC-D112-4FF5-8F21-36D9C20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D4B6D-01FA-4254-B756-404DE354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Offres restaurateurs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C698E-C0CC-43E8-928A-37FEE003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Pack de lancement ponctuel + abonnement mensuel : le restaurateur choisit son niveau d’accompagnement.</a:t>
            </a:r>
          </a:p>
        </p:txBody>
      </p:sp>
    </p:spTree>
    <p:extLst>
      <p:ext uri="{BB962C8B-B14F-4D97-AF65-F5344CB8AC3E}">
        <p14:creationId xmlns:p14="http://schemas.microsoft.com/office/powerpoint/2010/main" val="18685088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44BDD-2CAF-45B3-9330-896B375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PACKS DE LANCEMENT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B6807-1C69-423B-9DDC-948E0CC9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BD5D9-AA53-46BB-8B29-B0393899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B6CED-90A8-45E4-8B68-D315A340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Quatre packs pour adapter l’effort de lancement au niveau d’ambition.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4DB42-0B04-48A2-9108-342BE522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40738-5DA6-4E59-B025-E3B9294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Découverte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082FA-13E4-437B-B683-2DA7BCA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490 CHF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4225F-096B-4C01-8A34-3D393B7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Mise en place + menu jusqu’à 20 plats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884E1-C8E5-4BE7-BA08-6234D62E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1F80B-8958-48FE-AE16-182A6BDA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EBE04-F27C-4DDE-998D-BDB2B6A1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Essentiel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B6A61-3903-456B-85D6-6C2DF53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990 CHF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7587D-305A-4D5A-9B22-81AE7BF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Menu jusqu’à 40 plats + photos + réseaux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686C0-D781-4462-8F17-CCAE965A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63280-D04B-49AF-9359-70F9ABDE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9A024-8162-48C7-BF68-D3097764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C8A46-EA50-4180-B6F2-F671E96C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Populaire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06373-77AE-48B8-9E42-C9E1109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Pro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1E5BA-2F60-45BA-911B-D31A7B47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1 990 CHF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EB7EB-0300-4D21-AC54-D649679F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Illimité + 25 photos + campagne + plan de salle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73CC6-9EEE-41BB-86E1-90D2900B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75453-B025-44A0-B243-39ABF39A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400300" cy="2781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2D4D8-B407-40CA-BD3A-962B2C44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Premium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1F1C3-C0D8-4325-883D-9DB0CE96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3 490 CHF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2CA78-F972-44BD-8A67-5C885921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957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VIP + tous plats + 3 campagnes + account manager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17B33-0FEA-46D5-86EC-0F0B9C7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857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F2B6A-9EE0-43FF-8321-48B2D6E9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 : seed local `launch_packs` du dépôt TOK. Prix et contenus à confirmer commercialement avant diffusion externe.</a:t>
            </a:r>
          </a:p>
        </p:txBody>
      </p:sp>
    </p:spTree>
    <p:extLst>
      <p:ext uri="{BB962C8B-B14F-4D97-AF65-F5344CB8AC3E}">
        <p14:creationId xmlns:p14="http://schemas.microsoft.com/office/powerpoint/2010/main" val="4895377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5B2D4-0F9A-4E8D-8F51-D9FA2D85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ABONNEMENTS RESTAURATEUR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F026-9051-457B-80B6-436FEA17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2778E-2B63-4B80-A55B-D0438237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BF7E9-9B6F-4299-BB83-A7651253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Un abonnement au choix pour accompagner la croissance après le lancement.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E307F-39D2-4AFF-8333-79D4992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71B48-6065-4332-B298-01761EC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TOK Starter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A9ED9-334E-462F-9AB9-A3FD1DFD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69 CHF/mois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1C8CD-112A-491D-8EE4-138E56E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25 CHF crédit campagne · 80 crédits IA · 10 photos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D0882-C679-43BB-9A10-D43428B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76398-4FE1-4151-8EA4-DDBF6A98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Lancement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BF0FB-C014-454A-9F5B-34F8072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D012E-4C5C-40F8-828A-23E5679B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B981"/>
                </a:solidFill>
              </a:defRPr>
            </a:pPr>
            <a:r>
              <a:rPr sz="1425" b="1">
                <a:solidFill>
                  <a:srgbClr val="10B981"/>
                </a:solidFill>
              </a:rPr>
              <a:t>TOK Pro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14D52-9F26-4380-BFE5-A967818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129 CHF/mois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EB298-10B1-4622-B888-8D49AF3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75 CHF crédit campagne · 220 crédits IA · voix 30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37E86-C469-496F-9F52-9BE9C99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64AA2-E09C-48E1-B0D1-E93EC2E8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B981"/>
                </a:solidFill>
              </a:defRPr>
            </a:pPr>
            <a:r>
              <a:rPr sz="825" b="1">
                <a:solidFill>
                  <a:srgbClr val="10B981"/>
                </a:solidFill>
              </a:rPr>
              <a:t>Croissance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A3C02-B999-4DEA-8609-3F59D63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4986A-A3D7-4828-970C-76D943E2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TOK Premium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B149D-111C-42A8-960B-03D61DE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199 CHF/mois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3C98C-F2BD-451E-B285-1B40EB1E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150 CHF crédit campagne · 500 crédits IA · studio photo 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09926-EF88-41EC-8A5C-AD2F63B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5C58C-4B3A-4878-B68A-EC0BB245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Premium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F48AD-6275-4039-B58E-D0BF887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4003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76389-DE16-48E6-B805-DBD690AC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TOK Elite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F6FD0-DFF1-4092-AED1-80AA092B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499 CHF/mois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F816E-EAB4-47AD-BBDC-216EE70B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957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450 CHF crédit campagne · 1 500 crédits IA · support prioritaire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A02DD-A32E-43CA-9556-F7FEB44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9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6B677-1D4C-471A-AA03-17ED402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95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Elite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C1B91-C093-4825-AB49-BAC194A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 : table `restaurant_subscription_plans` locale. Le checkout doit vérifier côté serveur le paiement du pack et de l’abonnement avant validation restaurateur.</a:t>
            </a:r>
          </a:p>
        </p:txBody>
      </p:sp>
    </p:spTree>
    <p:extLst>
      <p:ext uri="{BB962C8B-B14F-4D97-AF65-F5344CB8AC3E}">
        <p14:creationId xmlns:p14="http://schemas.microsoft.com/office/powerpoint/2010/main" val="7338641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3954E-B42C-47D7-896B-99DBB81E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INSCRIPTION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6E1DC-E3FE-43AE-8C38-F28FDED6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29CA-541B-434B-B13F-94B812B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5E18D-3FA5-49C1-B54D-7936FC1F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Un onboarding contrôlé : documents, choix commercial, paiement,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2469D-4FBA-4950-AE71-EB5B8447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41502-717B-4926-A061-86D7D2A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D9740-9BCA-470A-A132-76EC6B9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1C14B-3330-409D-A6B5-77A14ABD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Compte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5CA57-9E8B-46FB-8172-DFA4C0A9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Création du compte restaurateur et rôle associé.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25556-661F-4662-8137-CE642BA3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0F039-0818-402E-9569-131E9A5B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F3435-09C0-4ABC-B2A7-2021E5A8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8E6C6-5587-487B-9060-6579305A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Dossier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14F2-70F5-4A6B-91B7-FE40EAF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Upload des documents et envoi à l’admin dans l’onglet Dossier.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0EB1-6082-494C-9EA3-0B02488F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2188A-0B27-4A0E-B65C-38D63E4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8C5FD-6983-4433-A5AF-D18E7A78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4D662-316B-49F6-A1DE-4BE6C7D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Choix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AA1DB-0DB2-4FA4-BCEE-C313788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Sélection du pack de lancement et de l’abonnement.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6DBEB-FEFA-4EA2-B5FA-712308FD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18E18-7C8A-4178-8B8D-304EAFC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FC5A4-B6EC-433F-8F89-8B9D695A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6288C-D864-4796-91A9-0281E4E1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Paiement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6E8E1-FFE8-4717-9631-A934B6CB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Checkout pack + abonnement, avec état payé vérifié côté serveur.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44D3D-4C70-47B7-ACF8-AC8AE0FD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828800" cy="2381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C18CF-325A-4990-8DB8-FAF76CE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5D11C-B43E-4842-A4A8-C2279ADC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479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A854E-5DF5-4083-82D2-8C1117C9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528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D18AE-075A-4621-9CF3-96902749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33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</a:defRPr>
            </a:pPr>
            <a:r>
              <a:rPr sz="900" b="0">
                <a:solidFill>
                  <a:srgbClr val="CBD5E1"/>
                </a:solidFill>
              </a:rPr>
              <a:t>Admin valide le compte avant accès complet au dashboard.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60282-1472-4166-9016-069B3CB8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Avantage : le réseau reste qualifié, les paiements sont traçables et le restaurateur comprend exactement ce qu’il achète avant l’activation.</a:t>
            </a:r>
          </a:p>
        </p:txBody>
      </p:sp>
    </p:spTree>
    <p:extLst>
      <p:ext uri="{BB962C8B-B14F-4D97-AF65-F5344CB8AC3E}">
        <p14:creationId xmlns:p14="http://schemas.microsoft.com/office/powerpoint/2010/main" val="17700474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E0153-283D-4BEA-BB97-259274C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COMPARATIF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F2D4C-B5D8-48B5-8BB8-3E4A1077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794F1-530D-4B1B-A6BB-0C7401A7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E6680-96F4-43BD-88B0-0778927E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38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Le vrai comparatif : périmètre, marge, relation client.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E1DE6-CB21-483D-95E5-8AE4A8C3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TheFork et Uber Eats sont puissants, mais pas sur le même métier. TOK se vend comme un cockpit complet pour restaurateurs.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FB972-80F6-4344-B3EF-FBAFD926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230A8-99C8-4E8E-A657-344419A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C3813-C596-4673-87DF-E6EB934C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TOK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1AB90-BD30-467B-9229-1F96A058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Restaurant OS suisse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FD8DA-3A92-4892-B3EA-C9C944A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052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0F87F-1702-4E53-AC4B-96EA4C30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E7EB"/>
                </a:solidFill>
              </a:defRPr>
            </a:pPr>
            <a:r>
              <a:rPr sz="900" b="1">
                <a:solidFill>
                  <a:srgbClr val="E5E7EB"/>
                </a:solidFill>
              </a:rPr>
              <a:t>Commande + paiement + réservation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9105F-E9AB-4485-8094-DA6E5B08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769C0-CCB5-4452-96E4-876EDC61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</a:defRPr>
            </a:pPr>
            <a:r>
              <a:rPr sz="900" b="0">
                <a:solidFill>
                  <a:srgbClr val="E5E7EB"/>
                </a:solidFill>
              </a:rPr>
              <a:t>Livraison/coursiers + dispatch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7448B-6ECA-4B93-9EC7-5F48B658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3A155-912F-4E72-B532-C5DDD55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</a:defRPr>
            </a:pPr>
            <a:r>
              <a:rPr sz="900" b="0">
                <a:solidFill>
                  <a:srgbClr val="E5E7EB"/>
                </a:solidFill>
              </a:rPr>
              <a:t>Offres, anti-gaspi, flash, actualités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2AC04-E12F-4D4C-98A6-2D319DC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96ECC-DAE4-41B2-94F8-093A9DEA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</a:defRPr>
            </a:pPr>
            <a:r>
              <a:rPr sz="900" b="0">
                <a:solidFill>
                  <a:srgbClr val="E5E7EB"/>
                </a:solidFill>
              </a:rPr>
              <a:t>Factures, support, admin, fidélité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2F1E2-3CF6-4DD1-9715-4BA987F9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143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5C749-22AD-48F0-9149-D9CD48BF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86F7E-B08F-47D0-882C-98315607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TheFork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6A2D8-1D60-46EC-BD6A-C62007D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Réservation et visibilité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F7075-3DEC-4402-A32F-72EB9E72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052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08838-847E-40A1-B886-9CBDB47D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Réservations et plan de salle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B6FAC-679E-4078-9F9D-591728DB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ED56F-65D9-48ED-A6E5-C515FFA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00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CRM invité, widgets, no-show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7C086-7A20-4BD3-A7E4-870DAD5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10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FB266-A8AD-4131-A81A-1154244C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Visibilité européenne et MICHELIN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758F3-9E94-4786-97A1-44A30C45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1FE6E-C7ED-4CA2-9F6E-F532F57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Moins orienté commande/livraison complète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A1658-0AAD-4C07-B825-856B337C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3143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28B42-BEA1-461F-99E4-B1E6BA9B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0D47E-CFC9-4303-90A2-EBF0A5A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Uber Eats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4CB38D-D14D-4410-8B07-5CC432F9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Livraison marketplace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6DA295-FCCA-43C8-ABA0-EC9567F7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052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1C076-7D8C-4590-B4F5-F6A2CE9F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576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Volume livraison et pickup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55E92-6283-4F08-88B9-B23B71D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59D08-672B-48EB-B067-3BA144DC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Logistique et réseau clients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240088-D32F-4BB6-AD76-876298E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0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95EB7F-0124-475E-9757-E1505C9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Ads/offres dans la marketplace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84FC5E-F4BB-478C-A85C-A2E009C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62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154BD-65B2-49EB-8584-2A53FAA1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148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Commission et marge à surveiller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3014F8-DBCB-4230-807B-E0B65799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20A7E8-8454-474F-998A-8EFEADBA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À retenir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96F26-909A-4D7C-AC08-13AC68A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TOK ne remplace pas un concurrent par mimétisme : il réduit le nombre d’outils nécessaires pour piloter ventes, opérations, fidélité et confiance.</a:t>
            </a:r>
          </a:p>
        </p:txBody>
      </p:sp>
    </p:spTree>
    <p:extLst>
      <p:ext uri="{BB962C8B-B14F-4D97-AF65-F5344CB8AC3E}">
        <p14:creationId xmlns:p14="http://schemas.microsoft.com/office/powerpoint/2010/main" val="20820309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A26A5-5F1A-4CF2-ABFE-DEB0FB99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ÉCONOMIE RESTAURATEUR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8F0A0-5758-41F7-9979-A8CE455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C70A9-E79E-4D39-8073-8EF0232F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CA52D-FF1A-4913-840C-4E64BD50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vraie comparaison se fait sur la marge, pas sur le volume brut.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8EE5C-B4FC-41D0-BA51-84298268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Simulation illustrative sur 10 000 CHF de chiffre généré par canal. Les frais réels dépendent des contrats, marchés et configurations.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BAE9E-E648-4C95-B670-F08A3DB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334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47750" y="3000375"/>
          <a:ext xmlns:a="http://schemas.openxmlformats.org/drawingml/2006/main" cx="46672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f9311ae81d4b6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FF43-CE55-4A51-B485-4655B3B1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1148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2818F-D561-44C2-B6F1-D85E40AE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À retenir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5375B-2F3F-4C98-9B63-84B1901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48050"/>
            <a:ext cx="3371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</a:defRPr>
            </a:pPr>
            <a:r>
              <a:rPr sz="1200" b="0">
                <a:solidFill>
                  <a:srgbClr val="E5E7EB"/>
                </a:solidFill>
              </a:rPr>
              <a:t>Une plateforme peut être rentable si elle apporte des clients additionnels au bon coût. TOK doit être vendu comme un canal pilotable : pack, abonnement, campagnes, réservations, commandes et fidélité visibles ensemble.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2E2E9-70EC-45B4-A078-5DE2503D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196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La colonne TOK est volontairement illustrative : elle doit être remplacée par le simulateur et le contrat du restaurant.</a:t>
            </a:r>
          </a:p>
        </p:txBody>
      </p:sp>
    </p:spTree>
    <p:extLst>
      <p:ext uri="{BB962C8B-B14F-4D97-AF65-F5344CB8AC3E}">
        <p14:creationId xmlns:p14="http://schemas.microsoft.com/office/powerpoint/2010/main" val="11481583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7B96A-0544-41D8-AE72-D4023F15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PLAN DE MIGRATION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137C3-BCA5-449F-843D-E4666146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2E173-2F6D-42FA-9999-934F819D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5AFDA-FCCA-48F9-8B21-809571DD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TOK peut démarrer comme canal additionnel, puis devenir le cockpit principal.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8734-F585-4EB9-A54A-3EDB41F6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C1E28-DD46-4D8C-831E-2971DEE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C8965-F52C-466B-A361-54358F47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Configurer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191AF-FA11-4F5E-B5FD-4532316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Dossier, pack, abonnement, menu, photos, fiche, amenities.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987B9-1FA2-477E-BAB2-2B0EDEEF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082FD-7DF8-4A05-964E-5111C3ED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5BA43-54ED-4EE9-9D99-C47E89A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CA047-A971-4996-A68E-AE774BFF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Activer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32237-11C2-480A-B94C-56A4934C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Réservation, commande, offres, paiements, support et notifications.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A5D4B-B09D-41E0-924C-573693A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1BC46-0301-430A-99D9-661B1DD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FC15B-AFC1-4D6A-8097-B132D3B0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791B0-0CEC-4A53-9D51-5C437B9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Promouvoir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CCB97-606F-4FEA-A92F-7C6A60FD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Actualités, campagne locale, ventes flash ou anti-gaspi ciblé.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AB752-7576-4D37-A0E5-1905B68B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74F5F-DA6D-4951-92D5-F4E13739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266950" cy="25717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62422-9025-4EB3-80B7-4FE2F005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Semaine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7ECED-D33D-450E-B7AE-120E664C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Mesurer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FAAAE-F7B9-48D4-B779-29E75A9F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Coût canal, réservations, commandes, avis, réachat et marge.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8CE23-922B-4323-814C-95C2DB4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910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9847E-0B0C-4AC4-B18A-CC430189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Approche recommandée : ne pas demander au restaurateur de tout basculer le premier jour. Mesurer une première poche de valeur, puis étendre.</a:t>
            </a:r>
          </a:p>
        </p:txBody>
      </p:sp>
    </p:spTree>
    <p:extLst>
      <p:ext uri="{BB962C8B-B14F-4D97-AF65-F5344CB8AC3E}">
        <p14:creationId xmlns:p14="http://schemas.microsoft.com/office/powerpoint/2010/main" val="8636794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0973B-2146-48B3-A6E4-4D080503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FAQ COMMERCIALE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95F0A-1EA4-4AD8-B28B-94439092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D8052-1913-401E-9A9E-741E3485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23DDF-387D-4BC7-A85B-F97F430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Répondre aux objections sans surpromettre.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6049F-92E8-4415-B244-52CB4A13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A553B-67B6-4DAA-A1F1-EB3C3A9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J’ai déjà TheFork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FD7A0-68AB-4427-8342-46FD51D4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</a:defRPr>
            </a:pPr>
            <a:r>
              <a:rPr sz="975" b="0">
                <a:solidFill>
                  <a:srgbClr val="E5E7EB"/>
                </a:solidFill>
              </a:rPr>
              <a:t>Gardez-le si le canal fonctionne, mais mesurez ce que TOK ajoute : commande, fidélité, offres, actualités, factures et relation directe.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4C171-9EF5-45F6-B989-8478F930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3F9AB-BF33-4C78-B7D8-40D5737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Uber me donne du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755AB-3F5D-4492-915D-6DD7751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Très bien si la marge suit. TOK ajoute un pilotage plus fin, des canaux directs et des leviers hors livraison pure.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4E51A-6B8F-4752-B4AA-399D906A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9A775-206B-4BD0-8579-592A864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Je manque de temps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F8E32-9BE3-4A94-97F2-44240D6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Les packs structurent la mise en place : menu, photos, plan de salle, réseaux, campagnes et accompagnement.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B5119-E4F7-42DA-899D-665B48C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3BAE7-B04A-49ED-AB61-307CF156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Je veux garder le contrôle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47037-3B19-4926-95E3-A6677C9D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TOK mise sur validation, feature flags, propriété restaurant, audit admin et choix progressif des modules.</a:t>
            </a:r>
          </a:p>
        </p:txBody>
      </p:sp>
    </p:spTree>
    <p:extLst>
      <p:ext uri="{BB962C8B-B14F-4D97-AF65-F5344CB8AC3E}">
        <p14:creationId xmlns:p14="http://schemas.microsoft.com/office/powerpoint/2010/main" val="16992545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8D40A-08D2-4106-98DE-1566AC02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TRANSPARENCE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1D41B-4732-4C0C-B9B7-62C56C57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75808-403F-479B-BF20-E471F09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685C5-870A-4E57-81FF-1101C452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Ce qu’il faut clarifier avant signature.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02D9B-4BE2-4E61-A213-844F4E5C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8AC01-955D-4749-88C9-AE2C0667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Contrat et pays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2994A-27CE-49BF-A13F-5D2AE732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Les tarifs concurrents et TOK peuvent dépendre du pays, du plan, des remises, du contrat et du mode de service.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BC12C-B95A-404D-8B4C-281FFB5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E68BF-88F5-47A3-A63E-4E493CB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Marge par canal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9CD9E-AD8D-4BEB-9721-DE5AEBD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La décision doit comparer chiffre net, frais, préparation, emballage, no-shows et réachat.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22E49-1440-442F-88BF-A06817BE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4C3A-4046-4820-A781-7C845FA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Données et relation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AA9D1-C696-4527-8288-7C6FB91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Identifier quelles données le restaurant récupère et comment elles alimentent le CRM/fidélité.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DCE8E-561F-420F-AD8D-78C50AC5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D2220-01D1-49A2-BA4C-F5E8BAD0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Adoption équipe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A28CC-3516-4FE5-B005-DA76D8AF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Former la salle, la cuisine, la direction et les responsables marketing selon les modules activés.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09B81-8EB9-46A4-B63E-7CDD31C2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4290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9DF74-C390-4A40-9647-67965F6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Promesse TOK défendable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F30D5-8413-4890-8920-4D8CDB1E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274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Moins d’outils dispersés, plus de pilotage local, une relation client mieux activable et une plateforme pensée d’abord pour les restaurateurs.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38A49-281E-4C6F-B188-8E9E9C3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00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La vente doit rester mesurée, transparente et adaptée au restaurant.</a:t>
            </a:r>
          </a:p>
        </p:txBody>
      </p:sp>
    </p:spTree>
    <p:extLst>
      <p:ext uri="{BB962C8B-B14F-4D97-AF65-F5344CB8AC3E}">
        <p14:creationId xmlns:p14="http://schemas.microsoft.com/office/powerpoint/2010/main" val="20433854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61549-9E89-46E4-A0A1-88B56891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C84F0-321D-46A0-9351-06A486E8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C6ED3-AA50-4632-9A6C-D989F60F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7EAB7-7898-4B99-B27F-EE25BD5D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Sources concurrentes consultées en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EC45F-C333-4987-8DD5-C6B5539E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Uber Eats · Pricing That Works for Your 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6A22B-EDC4-4FD7-B78D-E3A10890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https://merchants.ubereats.com/us/en/pricing/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DE11B-0A98-44DD-872C-D06F02AF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Plans Lite/Plus/Premium : marketplace fee public de 20%, 25%, 30% ; pickup 7% avec prix magasin validés.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E8774-99AE-41E5-BF55-C7D74FE3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Uber Help · Marketplace Fee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C5BAD-9C39-4BD6-9E6D-307F54FF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https://help.uber.com/merchants-and-restaurants/article/uber-eats-marketplace-fee-changes--?nodeId=2cec9c6f-a7b8-47b5-8cc8-07c8a2c24569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C3A53-6AE2-47D3-AAE8-8BECD616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Pickup 7% ou 10% selon validation ; indication officielle que les frais peuvent varier selon marché.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51E20-CFE3-4A44-8CB4-CFB5AE57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TheFork Manager · Homepage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7E21F-D159-4210-AD87-30EBFD0E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https://www.theforkmanager.com/en/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4CF6A-EC17-4F41-BA67-E7B26F6F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Positionnement restaurant management, 55 000 partenaires, 2 500 MICHELIN, réservation, CRM, analytics,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F8A29-A1CF-41CF-B300-DE6C581D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TheFork Manager · Restaurant Software 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1D80C-9718-49C9-A769-5EA4B813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https://www.theforkmanager.com/en/restaurant-software-price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AC6B3-8167-45DF-9CAA-EE75A24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Fonctionnalités des plans : réservation, no-show, analytics, CRM, marketing, support, widgets directs.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5762F-1F6B-4A0B-8105-DDEDFC67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About TheFork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F6F8E-6186-430A-A783-5638A0F3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https://about.thefork.com/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21F37-202C-4B76-805A-A215E8C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55 000 restaurants partenaires et 20 M avis vérifiés annoncés.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2D996-D63D-42B8-9752-177F43E3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97316"/>
                </a:solidFill>
              </a:defRPr>
            </a:pPr>
            <a:r>
              <a:rPr sz="900" b="0">
                <a:solidFill>
                  <a:srgbClr val="F97316"/>
                </a:solidFill>
              </a:rPr>
              <a:t>Les données concurrentes doivent être revalidées avant tout envoi commercial massif ou signature, car les grilles tarifaires peuvent changer.</a:t>
            </a:r>
          </a:p>
        </p:txBody>
      </p:sp>
    </p:spTree>
    <p:extLst>
      <p:ext uri="{BB962C8B-B14F-4D97-AF65-F5344CB8AC3E}">
        <p14:creationId xmlns:p14="http://schemas.microsoft.com/office/powerpoint/2010/main" val="6390306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1E45F7-FE0D-491A-A1E6-4A34DA4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SOURCES TOK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499C6-9DED-4D73-9073-5EEB77B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D3DED-3890-4D9E-9858-0FEF5C03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44A04-FE27-4D49-BE7B-8A8035ED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Sources produit utilisées pour TOK.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EC7AD-D07D-4C4A-A985-27796C7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Contexte produit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E9D31-9CAD-4262-B13D-16B82EE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AGENTS.md / docs/skills/TOK_APPLICATION_SKILL.md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5684E-FA2F-428D-BFEC-031E3D9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Positionnement, périmètres client/restaurateur/coursier/admin, stack et principes.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85D53-BFD8-4504-891D-C26686E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Packs de lancement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0E60A-16DB-4F96-A08F-D434334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supabase/migrations/20260404120000_launch_offer_packs.sql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492A4-792D-4832-A55F-8C9928D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Découverte, Essentiel, Pro, Premium, services inclus et prix seedés.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8F979-7588-456D-ABC6-16A8AB1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Abonnements restaurateur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2E467-CD27-4299-B68D-E66CEB00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supabase/migrations/20260615001515_restaurateur_onboarding_payment_gate.sql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F309C-7217-4574-98E4-FFEB6D8C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Starter, Pro, Premium, Elite, crédits et validation pack + abonnement payé.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E61A1-CA91-4D62-9094-0FE180D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Interface réelle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6DDF5-A550-40E3-8AD0-97FB92D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Capture navigateur intégrée : /dashboard/plan-salle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95A7C-BE65-48B5-8344-2FB8643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Référence visuelle light dashboard, accents orange, cartes compactes et ton opérationnel.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EB234-FD0D-47EC-9CAF-B908783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Fonctionnalités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B7DDD-71C6-414C-AC7B-F379FEA1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63EB"/>
                </a:solidFill>
              </a:defRPr>
            </a:pPr>
            <a:r>
              <a:rPr sz="750" b="0">
                <a:solidFill>
                  <a:srgbClr val="2563EB"/>
                </a:solidFill>
              </a:rPr>
              <a:t>src/App.tsx, src/pages/dashboard, src/lib/packFeatureGating.ts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244FA-FAEC-4BA5-9148-851BEDC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Modules restaurateur, feature flags et activation progressive.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5F7B6-7816-426F-AF04-4859815B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97316"/>
                </a:solidFill>
              </a:defRPr>
            </a:pPr>
            <a:r>
              <a:rPr sz="900" b="0">
                <a:solidFill>
                  <a:srgbClr val="F97316"/>
                </a:solidFill>
              </a:rPr>
              <a:t>Mention interne : ce dossier est basé sur l’état du dépôt local au 15 juin 2026. Les pages et offres finales doivent être validées avant publication externe.</a:t>
            </a:r>
          </a:p>
        </p:txBody>
      </p:sp>
    </p:spTree>
    <p:extLst>
      <p:ext uri="{BB962C8B-B14F-4D97-AF65-F5344CB8AC3E}">
        <p14:creationId xmlns:p14="http://schemas.microsoft.com/office/powerpoint/2010/main" val="7157941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1572c535a4739"/>
          <a:srcRect xmlns:a="http://schemas.openxmlformats.org/drawingml/2006/main" l="24921" t="0" r="249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7A449-B8F6-4C4F-89E9-C941271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FA69E-FAA3-43C1-A59D-13F7469E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7e7f25277406d"/>
          <a:stretch xmlns:a="http://schemas.openxmlformats.org/drawingml/2006/main"/>
        </p:blipFill>
        <p:spPr>
          <a:xfrm xmlns:a="http://schemas.openxmlformats.org/drawingml/2006/main">
            <a:off x="685800" y="6667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C0F85-3732-47C9-8ABD-101021C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00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0A5C5-1596-4D49-8963-808255C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Le prochain bon canal ne doit pas seulement vous apporter des clients. Il doit vous aider à les garder.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9B2A3-D86C-4E4E-A8F4-A84556D2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Prochaine étape : simulation personnalisée sur votre restaurant, choix du pack, choix de l’abonnement, constitution du dossier et validation admin.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D511D-511B-4DFF-8A17-44782D1C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0B73E-C68C-455F-98FF-F1E263F8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www.thetok.ch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4C8A0-38D7-429E-96E8-E7A1B7C0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Dossier confidentiel · version 15.06.2026</a:t>
            </a:r>
          </a:p>
        </p:txBody>
      </p:sp>
    </p:spTree>
    <p:extLst>
      <p:ext uri="{BB962C8B-B14F-4D97-AF65-F5344CB8AC3E}">
        <p14:creationId xmlns:p14="http://schemas.microsoft.com/office/powerpoint/2010/main" val="1584969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2026-06-15T02:19:29.2780000Z</dcterms:created>
  <dcterms:modified xsi:type="dcterms:W3CDTF">2026-06-15T02:19:29.2780000Z</dcterms:modified>
</coreProperties>
</file>